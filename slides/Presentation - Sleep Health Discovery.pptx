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odec Pro" panose="020B0604020202020204" charset="0"/>
      <p:regular r:id="rId12"/>
    </p:embeddedFont>
    <p:embeddedFont>
      <p:font typeface="Codec Pro Bold" panose="020B0604020202020204" charset="0"/>
      <p:regular r:id="rId13"/>
    </p:embeddedFont>
    <p:embeddedFont>
      <p:font typeface="Codec Pro Ultra-Bold" panose="020B0604020202020204" charset="0"/>
      <p:regular r:id="rId14"/>
    </p:embeddedFont>
    <p:embeddedFont>
      <p:font typeface="Gatwick Bold" panose="020B0604020202020204" charset="0"/>
      <p:regular r:id="rId15"/>
    </p:embeddedFont>
    <p:embeddedFont>
      <p:font typeface="Gatwick Ultra-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92" y="16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grpSp>
        <p:nvGrpSpPr>
          <p:cNvPr id="5" name="Group 5"/>
          <p:cNvGrpSpPr/>
          <p:nvPr/>
        </p:nvGrpSpPr>
        <p:grpSpPr>
          <a:xfrm>
            <a:off x="10095507" y="1171470"/>
            <a:ext cx="6898579" cy="7848810"/>
            <a:chOff x="0" y="0"/>
            <a:chExt cx="1078972" cy="1227593"/>
          </a:xfrm>
        </p:grpSpPr>
        <p:sp>
          <p:nvSpPr>
            <p:cNvPr id="6" name="Freeform 6"/>
            <p:cNvSpPr/>
            <p:nvPr/>
          </p:nvSpPr>
          <p:spPr>
            <a:xfrm>
              <a:off x="0" y="0"/>
              <a:ext cx="1078972" cy="1227593"/>
            </a:xfrm>
            <a:custGeom>
              <a:avLst/>
              <a:gdLst/>
              <a:ahLst/>
              <a:cxnLst/>
              <a:rect l="l" t="t" r="r" b="b"/>
              <a:pathLst>
                <a:path w="1078972" h="1227593">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2"/>
              <a:stretch>
                <a:fillRect t="-153" b="-153"/>
              </a:stretch>
            </a:blipFill>
            <a:ln w="38100" cap="rnd">
              <a:solidFill>
                <a:srgbClr val="000000"/>
              </a:solidFill>
              <a:prstDash val="solid"/>
              <a:round/>
            </a:ln>
          </p:spPr>
          <p:txBody>
            <a:bodyPr/>
            <a:lstStyle/>
            <a:p>
              <a:endParaRPr lang="en-US"/>
            </a:p>
          </p:txBody>
        </p:sp>
      </p:grpSp>
      <p:sp>
        <p:nvSpPr>
          <p:cNvPr id="7" name="TextBox 7"/>
          <p:cNvSpPr txBox="1"/>
          <p:nvPr/>
        </p:nvSpPr>
        <p:spPr>
          <a:xfrm>
            <a:off x="1800225" y="3800495"/>
            <a:ext cx="7496175" cy="2343150"/>
          </a:xfrm>
          <a:prstGeom prst="rect">
            <a:avLst/>
          </a:prstGeom>
        </p:spPr>
        <p:txBody>
          <a:bodyPr lIns="0" tIns="0" rIns="0" bIns="0" rtlCol="0" anchor="t">
            <a:spAutoFit/>
          </a:bodyPr>
          <a:lstStyle/>
          <a:p>
            <a:pPr marL="0" lvl="0" indent="0" algn="ctr">
              <a:lnSpc>
                <a:spcPts val="8999"/>
              </a:lnSpc>
            </a:pPr>
            <a:r>
              <a:rPr lang="en-US" sz="7499" b="1" spc="-187">
                <a:solidFill>
                  <a:srgbClr val="62A1D7"/>
                </a:solidFill>
                <a:latin typeface="Gatwick Ultra-Bold"/>
                <a:ea typeface="Gatwick Ultra-Bold"/>
                <a:cs typeface="Gatwick Ultra-Bold"/>
                <a:sym typeface="Gatwick Ultra-Bold"/>
              </a:rPr>
              <a:t>Sleep Health Discovery</a:t>
            </a:r>
          </a:p>
        </p:txBody>
      </p:sp>
      <p:sp>
        <p:nvSpPr>
          <p:cNvPr id="8" name="TextBox 8"/>
          <p:cNvSpPr txBox="1"/>
          <p:nvPr/>
        </p:nvSpPr>
        <p:spPr>
          <a:xfrm>
            <a:off x="1800225" y="1504950"/>
            <a:ext cx="7496175" cy="477520"/>
          </a:xfrm>
          <a:prstGeom prst="rect">
            <a:avLst/>
          </a:prstGeom>
        </p:spPr>
        <p:txBody>
          <a:bodyPr lIns="0" tIns="0" rIns="0" bIns="0" rtlCol="0" anchor="t">
            <a:spAutoFit/>
          </a:bodyPr>
          <a:lstStyle/>
          <a:p>
            <a:pPr marL="0" lvl="0" indent="0" algn="ctr">
              <a:lnSpc>
                <a:spcPts val="3499"/>
              </a:lnSpc>
              <a:spcBef>
                <a:spcPct val="0"/>
              </a:spcBef>
            </a:pPr>
            <a:r>
              <a:rPr lang="en-US" sz="2799" b="1">
                <a:solidFill>
                  <a:srgbClr val="406882"/>
                </a:solidFill>
                <a:latin typeface="Codec Pro Ultra-Bold"/>
                <a:ea typeface="Codec Pro Ultra-Bold"/>
                <a:cs typeface="Codec Pro Ultra-Bold"/>
                <a:sym typeface="Codec Pro Ultra-Bold"/>
              </a:rPr>
              <a:t>UNDERSTANDING SLEEP PATTERNS</a:t>
            </a:r>
          </a:p>
        </p:txBody>
      </p:sp>
      <p:sp>
        <p:nvSpPr>
          <p:cNvPr id="9" name="TextBox 9"/>
          <p:cNvSpPr txBox="1"/>
          <p:nvPr/>
        </p:nvSpPr>
        <p:spPr>
          <a:xfrm>
            <a:off x="1800225" y="8247380"/>
            <a:ext cx="7496175" cy="477520"/>
          </a:xfrm>
          <a:prstGeom prst="rect">
            <a:avLst/>
          </a:prstGeom>
        </p:spPr>
        <p:txBody>
          <a:bodyPr lIns="0" tIns="0" rIns="0" bIns="0" rtlCol="0" anchor="t">
            <a:spAutoFit/>
          </a:bodyPr>
          <a:lstStyle/>
          <a:p>
            <a:pPr marL="0" lvl="0" indent="0" algn="ctr">
              <a:lnSpc>
                <a:spcPts val="3499"/>
              </a:lnSpc>
              <a:spcBef>
                <a:spcPct val="0"/>
              </a:spcBef>
            </a:pPr>
            <a:r>
              <a:rPr lang="en-US" sz="2799" b="1">
                <a:solidFill>
                  <a:srgbClr val="406882"/>
                </a:solidFill>
                <a:latin typeface="Codec Pro Ultra-Bold"/>
                <a:ea typeface="Codec Pro Ultra-Bold"/>
                <a:cs typeface="Codec Pro Ultra-Bold"/>
                <a:sym typeface="Codec Pro Ultra-Bold"/>
              </a:rPr>
              <a:t>Kofi Ofori-Acquah | CS 4412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sp>
        <p:nvSpPr>
          <p:cNvPr id="5" name="Freeform 5"/>
          <p:cNvSpPr/>
          <p:nvPr/>
        </p:nvSpPr>
        <p:spPr>
          <a:xfrm>
            <a:off x="2105025" y="2158401"/>
            <a:ext cx="5753100" cy="5970198"/>
          </a:xfrm>
          <a:custGeom>
            <a:avLst/>
            <a:gdLst/>
            <a:ahLst/>
            <a:cxnLst/>
            <a:rect l="l" t="t" r="r" b="b"/>
            <a:pathLst>
              <a:path w="5753100" h="5970198">
                <a:moveTo>
                  <a:pt x="0" y="0"/>
                </a:moveTo>
                <a:lnTo>
                  <a:pt x="5753100" y="0"/>
                </a:lnTo>
                <a:lnTo>
                  <a:pt x="5753100" y="5970198"/>
                </a:lnTo>
                <a:lnTo>
                  <a:pt x="0" y="5970198"/>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grpSp>
        <p:nvGrpSpPr>
          <p:cNvPr id="6" name="Group 6"/>
          <p:cNvGrpSpPr/>
          <p:nvPr/>
        </p:nvGrpSpPr>
        <p:grpSpPr>
          <a:xfrm>
            <a:off x="9296400" y="2867025"/>
            <a:ext cx="6886575" cy="3903345"/>
            <a:chOff x="0" y="0"/>
            <a:chExt cx="9182100" cy="5204460"/>
          </a:xfrm>
        </p:grpSpPr>
        <p:sp>
          <p:nvSpPr>
            <p:cNvPr id="7" name="TextBox 7"/>
            <p:cNvSpPr txBox="1"/>
            <p:nvPr/>
          </p:nvSpPr>
          <p:spPr>
            <a:xfrm>
              <a:off x="0" y="-57150"/>
              <a:ext cx="9182100" cy="3333750"/>
            </a:xfrm>
            <a:prstGeom prst="rect">
              <a:avLst/>
            </a:prstGeom>
          </p:spPr>
          <p:txBody>
            <a:bodyPr lIns="0" tIns="0" rIns="0" bIns="0" rtlCol="0" anchor="t">
              <a:spAutoFit/>
            </a:bodyPr>
            <a:lstStyle/>
            <a:p>
              <a:pPr marL="0" lvl="0" indent="0" algn="ctr">
                <a:lnSpc>
                  <a:spcPts val="6480"/>
                </a:lnSpc>
              </a:pPr>
              <a:r>
                <a:rPr lang="en-US" sz="5400" b="1" spc="-135">
                  <a:solidFill>
                    <a:srgbClr val="406882"/>
                  </a:solidFill>
                  <a:latin typeface="Gatwick Ultra-Bold"/>
                  <a:ea typeface="Gatwick Ultra-Bold"/>
                  <a:cs typeface="Gatwick Ultra-Bold"/>
                  <a:sym typeface="Gatwick Ultra-Bold"/>
                </a:rPr>
                <a:t>Overview of the Sleep Health Dataset</a:t>
              </a:r>
            </a:p>
          </p:txBody>
        </p:sp>
        <p:sp>
          <p:nvSpPr>
            <p:cNvPr id="8" name="TextBox 8"/>
            <p:cNvSpPr txBox="1"/>
            <p:nvPr/>
          </p:nvSpPr>
          <p:spPr>
            <a:xfrm>
              <a:off x="0" y="3616325"/>
              <a:ext cx="9182100" cy="1588135"/>
            </a:xfrm>
            <a:prstGeom prst="rect">
              <a:avLst/>
            </a:prstGeom>
          </p:spPr>
          <p:txBody>
            <a:bodyPr lIns="0" tIns="0" rIns="0" bIns="0" rtlCol="0" anchor="t">
              <a:spAutoFit/>
            </a:bodyPr>
            <a:lstStyle/>
            <a:p>
              <a:pPr marL="0" lvl="0" indent="0" algn="ctr">
                <a:lnSpc>
                  <a:spcPts val="3120"/>
                </a:lnSpc>
              </a:pPr>
              <a:r>
                <a:rPr lang="en-US" sz="2400">
                  <a:solidFill>
                    <a:srgbClr val="406882"/>
                  </a:solidFill>
                  <a:latin typeface="Codec Pro"/>
                  <a:ea typeface="Codec Pro"/>
                  <a:cs typeface="Codec Pro"/>
                  <a:sym typeface="Codec Pro"/>
                </a:rPr>
                <a:t>The cleaned dataset includes 374 entries featuring key indicators such as </a:t>
              </a:r>
              <a:r>
                <a:rPr lang="en-US" sz="2400" b="1">
                  <a:solidFill>
                    <a:srgbClr val="406882"/>
                  </a:solidFill>
                  <a:latin typeface="Codec Pro Bold"/>
                  <a:ea typeface="Codec Pro Bold"/>
                  <a:cs typeface="Codec Pro Bold"/>
                  <a:sym typeface="Codec Pro Bold"/>
                </a:rPr>
                <a:t>sleep duration, stress levels,</a:t>
              </a:r>
              <a:r>
                <a:rPr lang="en-US" sz="2400">
                  <a:solidFill>
                    <a:srgbClr val="406882"/>
                  </a:solidFill>
                  <a:latin typeface="Codec Pro"/>
                  <a:ea typeface="Codec Pro"/>
                  <a:cs typeface="Codec Pro"/>
                  <a:sym typeface="Codec Pro"/>
                </a:rPr>
                <a:t> and </a:t>
              </a:r>
              <a:r>
                <a:rPr lang="en-US" sz="2400" b="1">
                  <a:solidFill>
                    <a:srgbClr val="406882"/>
                  </a:solidFill>
                  <a:latin typeface="Codec Pro Bold"/>
                  <a:ea typeface="Codec Pro Bold"/>
                  <a:cs typeface="Codec Pro Bold"/>
                  <a:sym typeface="Codec Pro Bold"/>
                </a:rPr>
                <a:t>cardiovascular health.</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grpSp>
        <p:nvGrpSpPr>
          <p:cNvPr id="5" name="Group 5"/>
          <p:cNvGrpSpPr/>
          <p:nvPr/>
        </p:nvGrpSpPr>
        <p:grpSpPr>
          <a:xfrm>
            <a:off x="1800225" y="3764449"/>
            <a:ext cx="4717524" cy="4960451"/>
            <a:chOff x="0" y="0"/>
            <a:chExt cx="1242476" cy="1306456"/>
          </a:xfrm>
        </p:grpSpPr>
        <p:sp>
          <p:nvSpPr>
            <p:cNvPr id="6" name="Freeform 6"/>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7" name="TextBox 7"/>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spcBef>
                  <a:spcPct val="0"/>
                </a:spcBef>
              </a:pPr>
              <a:endParaRPr/>
            </a:p>
          </p:txBody>
        </p:sp>
      </p:grpSp>
      <p:grpSp>
        <p:nvGrpSpPr>
          <p:cNvPr id="8" name="Group 8"/>
          <p:cNvGrpSpPr/>
          <p:nvPr/>
        </p:nvGrpSpPr>
        <p:grpSpPr>
          <a:xfrm>
            <a:off x="6785238" y="3764449"/>
            <a:ext cx="4717524" cy="4960451"/>
            <a:chOff x="0" y="0"/>
            <a:chExt cx="1242476" cy="1306456"/>
          </a:xfrm>
        </p:grpSpPr>
        <p:sp>
          <p:nvSpPr>
            <p:cNvPr id="9" name="Freeform 9"/>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10" name="TextBox 10"/>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spcBef>
                  <a:spcPct val="0"/>
                </a:spcBef>
              </a:pPr>
              <a:endParaRPr/>
            </a:p>
          </p:txBody>
        </p:sp>
      </p:grpSp>
      <p:grpSp>
        <p:nvGrpSpPr>
          <p:cNvPr id="11" name="Group 11"/>
          <p:cNvGrpSpPr/>
          <p:nvPr/>
        </p:nvGrpSpPr>
        <p:grpSpPr>
          <a:xfrm>
            <a:off x="11770251" y="3764449"/>
            <a:ext cx="4717524" cy="4960451"/>
            <a:chOff x="0" y="0"/>
            <a:chExt cx="1242476" cy="1306456"/>
          </a:xfrm>
        </p:grpSpPr>
        <p:sp>
          <p:nvSpPr>
            <p:cNvPr id="12" name="Freeform 12"/>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13" name="TextBox 13"/>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spcBef>
                  <a:spcPct val="0"/>
                </a:spcBef>
              </a:pPr>
              <a:endParaRPr/>
            </a:p>
          </p:txBody>
        </p:sp>
      </p:grpSp>
      <p:sp>
        <p:nvSpPr>
          <p:cNvPr id="14" name="TextBox 14"/>
          <p:cNvSpPr txBox="1"/>
          <p:nvPr/>
        </p:nvSpPr>
        <p:spPr>
          <a:xfrm>
            <a:off x="2105025" y="1504950"/>
            <a:ext cx="14077950" cy="1695450"/>
          </a:xfrm>
          <a:prstGeom prst="rect">
            <a:avLst/>
          </a:prstGeom>
        </p:spPr>
        <p:txBody>
          <a:bodyPr lIns="0" tIns="0" rIns="0" bIns="0" rtlCol="0" anchor="t">
            <a:spAutoFit/>
          </a:bodyPr>
          <a:lstStyle/>
          <a:p>
            <a:pPr marL="0" lvl="0" indent="0" algn="ctr">
              <a:lnSpc>
                <a:spcPts val="6480"/>
              </a:lnSpc>
            </a:pPr>
            <a:r>
              <a:rPr lang="en-US" sz="5400" b="1" spc="-135">
                <a:solidFill>
                  <a:srgbClr val="62A1D7"/>
                </a:solidFill>
                <a:latin typeface="Gatwick Ultra-Bold"/>
                <a:ea typeface="Gatwick Ultra-Bold"/>
                <a:cs typeface="Gatwick Ultra-Bold"/>
                <a:sym typeface="Gatwick Ultra-Bold"/>
              </a:rPr>
              <a:t>Clustering and Visualization Methods in Sleep Health</a:t>
            </a:r>
          </a:p>
        </p:txBody>
      </p:sp>
      <p:grpSp>
        <p:nvGrpSpPr>
          <p:cNvPr id="15" name="Group 15"/>
          <p:cNvGrpSpPr/>
          <p:nvPr/>
        </p:nvGrpSpPr>
        <p:grpSpPr>
          <a:xfrm>
            <a:off x="2178450" y="4248150"/>
            <a:ext cx="3961075" cy="3539463"/>
            <a:chOff x="0" y="0"/>
            <a:chExt cx="5281434" cy="4719284"/>
          </a:xfrm>
        </p:grpSpPr>
        <p:sp>
          <p:nvSpPr>
            <p:cNvPr id="16" name="TextBox 16"/>
            <p:cNvSpPr txBox="1"/>
            <p:nvPr/>
          </p:nvSpPr>
          <p:spPr>
            <a:xfrm>
              <a:off x="0" y="527649"/>
              <a:ext cx="5281434" cy="4191635"/>
            </a:xfrm>
            <a:prstGeom prst="rect">
              <a:avLst/>
            </a:prstGeom>
          </p:spPr>
          <p:txBody>
            <a:bodyPr lIns="0" tIns="0" rIns="0" bIns="0" rtlCol="0" anchor="t">
              <a:spAutoFit/>
            </a:bodyPr>
            <a:lstStyle/>
            <a:p>
              <a:pPr marL="0" lvl="0" indent="0" algn="ctr">
                <a:lnSpc>
                  <a:spcPts val="3120"/>
                </a:lnSpc>
              </a:pPr>
              <a:r>
                <a:rPr lang="en-US" sz="2400">
                  <a:solidFill>
                    <a:srgbClr val="406882"/>
                  </a:solidFill>
                  <a:latin typeface="Codec Pro"/>
                  <a:ea typeface="Codec Pro"/>
                  <a:cs typeface="Codec Pro"/>
                  <a:sym typeface="Codec Pro"/>
                </a:rPr>
                <a:t>K-Means was employed to identify interpretable sleep-health segments, revealing distinct lifestyle patterns within the data that are critical for understanding individual health.</a:t>
              </a:r>
            </a:p>
          </p:txBody>
        </p:sp>
        <p:sp>
          <p:nvSpPr>
            <p:cNvPr id="17" name="TextBox 17"/>
            <p:cNvSpPr txBox="1"/>
            <p:nvPr/>
          </p:nvSpPr>
          <p:spPr>
            <a:xfrm>
              <a:off x="0" y="-66675"/>
              <a:ext cx="5281434" cy="559435"/>
            </a:xfrm>
            <a:prstGeom prst="rect">
              <a:avLst/>
            </a:prstGeom>
          </p:spPr>
          <p:txBody>
            <a:bodyPr lIns="0" tIns="0" rIns="0" bIns="0" rtlCol="0" anchor="t">
              <a:spAutoFit/>
            </a:bodyPr>
            <a:lstStyle/>
            <a:p>
              <a:pPr marL="0" lvl="0" indent="0" algn="ctr">
                <a:lnSpc>
                  <a:spcPts val="3120"/>
                </a:lnSpc>
              </a:pPr>
              <a:r>
                <a:rPr lang="en-US" sz="2400" b="1">
                  <a:solidFill>
                    <a:srgbClr val="406882"/>
                  </a:solidFill>
                  <a:latin typeface="Codec Pro Ultra-Bold"/>
                  <a:ea typeface="Codec Pro Ultra-Bold"/>
                  <a:cs typeface="Codec Pro Ultra-Bold"/>
                  <a:sym typeface="Codec Pro Ultra-Bold"/>
                </a:rPr>
                <a:t>K-Means Clustering</a:t>
              </a:r>
            </a:p>
          </p:txBody>
        </p:sp>
      </p:grpSp>
      <p:grpSp>
        <p:nvGrpSpPr>
          <p:cNvPr id="18" name="Group 18"/>
          <p:cNvGrpSpPr/>
          <p:nvPr/>
        </p:nvGrpSpPr>
        <p:grpSpPr>
          <a:xfrm>
            <a:off x="7163462" y="4248150"/>
            <a:ext cx="3961075" cy="3539490"/>
            <a:chOff x="0" y="0"/>
            <a:chExt cx="5281434" cy="4719320"/>
          </a:xfrm>
        </p:grpSpPr>
        <p:sp>
          <p:nvSpPr>
            <p:cNvPr id="19" name="TextBox 19"/>
            <p:cNvSpPr txBox="1"/>
            <p:nvPr/>
          </p:nvSpPr>
          <p:spPr>
            <a:xfrm>
              <a:off x="0" y="527685"/>
              <a:ext cx="5281434" cy="4191635"/>
            </a:xfrm>
            <a:prstGeom prst="rect">
              <a:avLst/>
            </a:prstGeom>
          </p:spPr>
          <p:txBody>
            <a:bodyPr lIns="0" tIns="0" rIns="0" bIns="0" rtlCol="0" anchor="t">
              <a:spAutoFit/>
            </a:bodyPr>
            <a:lstStyle/>
            <a:p>
              <a:pPr marL="0" lvl="0" indent="0" algn="ctr">
                <a:lnSpc>
                  <a:spcPts val="3120"/>
                </a:lnSpc>
              </a:pPr>
              <a:r>
                <a:rPr lang="en-US" sz="2400">
                  <a:solidFill>
                    <a:srgbClr val="406882"/>
                  </a:solidFill>
                  <a:latin typeface="Codec Pro"/>
                  <a:ea typeface="Codec Pro"/>
                  <a:cs typeface="Codec Pro"/>
                  <a:sym typeface="Codec Pro"/>
                </a:rPr>
                <a:t>Principal Component Analysis enabled a two-dimensional visualization of the data structure, effectively illustrating the separation of clusters and enhancing interpretability of complex relationships.</a:t>
              </a:r>
            </a:p>
          </p:txBody>
        </p:sp>
        <p:sp>
          <p:nvSpPr>
            <p:cNvPr id="20" name="TextBox 20"/>
            <p:cNvSpPr txBox="1"/>
            <p:nvPr/>
          </p:nvSpPr>
          <p:spPr>
            <a:xfrm>
              <a:off x="0" y="-66675"/>
              <a:ext cx="5281434" cy="559435"/>
            </a:xfrm>
            <a:prstGeom prst="rect">
              <a:avLst/>
            </a:prstGeom>
          </p:spPr>
          <p:txBody>
            <a:bodyPr lIns="0" tIns="0" rIns="0" bIns="0" rtlCol="0" anchor="t">
              <a:spAutoFit/>
            </a:bodyPr>
            <a:lstStyle/>
            <a:p>
              <a:pPr marL="0" lvl="0" indent="0" algn="ctr">
                <a:lnSpc>
                  <a:spcPts val="3120"/>
                </a:lnSpc>
              </a:pPr>
              <a:r>
                <a:rPr lang="en-US" sz="2400" b="1">
                  <a:solidFill>
                    <a:srgbClr val="406882"/>
                  </a:solidFill>
                  <a:latin typeface="Codec Pro Ultra-Bold"/>
                  <a:ea typeface="Codec Pro Ultra-Bold"/>
                  <a:cs typeface="Codec Pro Ultra-Bold"/>
                  <a:sym typeface="Codec Pro Ultra-Bold"/>
                </a:rPr>
                <a:t>PCA Visualization</a:t>
              </a:r>
            </a:p>
          </p:txBody>
        </p:sp>
      </p:grpSp>
      <p:grpSp>
        <p:nvGrpSpPr>
          <p:cNvPr id="21" name="Group 21"/>
          <p:cNvGrpSpPr/>
          <p:nvPr/>
        </p:nvGrpSpPr>
        <p:grpSpPr>
          <a:xfrm>
            <a:off x="12148475" y="4248150"/>
            <a:ext cx="3961075" cy="3539490"/>
            <a:chOff x="0" y="0"/>
            <a:chExt cx="5281434" cy="4719320"/>
          </a:xfrm>
        </p:grpSpPr>
        <p:sp>
          <p:nvSpPr>
            <p:cNvPr id="22" name="TextBox 22"/>
            <p:cNvSpPr txBox="1"/>
            <p:nvPr/>
          </p:nvSpPr>
          <p:spPr>
            <a:xfrm>
              <a:off x="0" y="527685"/>
              <a:ext cx="5281434" cy="4191635"/>
            </a:xfrm>
            <a:prstGeom prst="rect">
              <a:avLst/>
            </a:prstGeom>
          </p:spPr>
          <p:txBody>
            <a:bodyPr lIns="0" tIns="0" rIns="0" bIns="0" rtlCol="0" anchor="t">
              <a:spAutoFit/>
            </a:bodyPr>
            <a:lstStyle/>
            <a:p>
              <a:pPr marL="0" lvl="0" indent="0" algn="ctr">
                <a:lnSpc>
                  <a:spcPts val="3120"/>
                </a:lnSpc>
              </a:pPr>
              <a:r>
                <a:rPr lang="en-US" sz="2400">
                  <a:solidFill>
                    <a:srgbClr val="406882"/>
                  </a:solidFill>
                  <a:latin typeface="Codec Pro"/>
                  <a:ea typeface="Codec Pro"/>
                  <a:cs typeface="Codec Pro"/>
                  <a:sym typeface="Codec Pro"/>
                </a:rPr>
                <a:t>Local Outlier Factor was utilized to identify unusual profiles, focusing on edge cases that warrant further investigation, thereby providing deeper insights into sleep health variations.</a:t>
              </a:r>
            </a:p>
          </p:txBody>
        </p:sp>
        <p:sp>
          <p:nvSpPr>
            <p:cNvPr id="23" name="TextBox 23"/>
            <p:cNvSpPr txBox="1"/>
            <p:nvPr/>
          </p:nvSpPr>
          <p:spPr>
            <a:xfrm>
              <a:off x="0" y="-66675"/>
              <a:ext cx="5281434" cy="559435"/>
            </a:xfrm>
            <a:prstGeom prst="rect">
              <a:avLst/>
            </a:prstGeom>
          </p:spPr>
          <p:txBody>
            <a:bodyPr lIns="0" tIns="0" rIns="0" bIns="0" rtlCol="0" anchor="t">
              <a:spAutoFit/>
            </a:bodyPr>
            <a:lstStyle/>
            <a:p>
              <a:pPr marL="0" lvl="0" indent="0" algn="ctr">
                <a:lnSpc>
                  <a:spcPts val="3120"/>
                </a:lnSpc>
              </a:pPr>
              <a:r>
                <a:rPr lang="en-US" sz="2400" b="1">
                  <a:solidFill>
                    <a:srgbClr val="406882"/>
                  </a:solidFill>
                  <a:latin typeface="Codec Pro Ultra-Bold"/>
                  <a:ea typeface="Codec Pro Ultra-Bold"/>
                  <a:cs typeface="Codec Pro Ultra-Bold"/>
                  <a:sym typeface="Codec Pro Ultra-Bold"/>
                </a:rPr>
                <a:t>Anomaly Detection</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grpSp>
        <p:nvGrpSpPr>
          <p:cNvPr id="5" name="Group 5"/>
          <p:cNvGrpSpPr/>
          <p:nvPr/>
        </p:nvGrpSpPr>
        <p:grpSpPr>
          <a:xfrm>
            <a:off x="1800225" y="3764449"/>
            <a:ext cx="4717524" cy="4960451"/>
            <a:chOff x="0" y="0"/>
            <a:chExt cx="1242476" cy="1306456"/>
          </a:xfrm>
        </p:grpSpPr>
        <p:sp>
          <p:nvSpPr>
            <p:cNvPr id="6" name="Freeform 6"/>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7" name="TextBox 7"/>
            <p:cNvSpPr txBox="1"/>
            <p:nvPr/>
          </p:nvSpPr>
          <p:spPr>
            <a:xfrm>
              <a:off x="0" y="-57150"/>
              <a:ext cx="1242476" cy="1363606"/>
            </a:xfrm>
            <a:prstGeom prst="rect">
              <a:avLst/>
            </a:prstGeom>
          </p:spPr>
          <p:txBody>
            <a:bodyPr lIns="127000" tIns="127000" rIns="127000" bIns="127000" rtlCol="0" anchor="ctr"/>
            <a:lstStyle/>
            <a:p>
              <a:pPr marL="0" lvl="0" indent="0" algn="ctr">
                <a:lnSpc>
                  <a:spcPts val="3081"/>
                </a:lnSpc>
              </a:pPr>
              <a:endParaRPr/>
            </a:p>
          </p:txBody>
        </p:sp>
      </p:grpSp>
      <p:grpSp>
        <p:nvGrpSpPr>
          <p:cNvPr id="8" name="Group 8"/>
          <p:cNvGrpSpPr/>
          <p:nvPr/>
        </p:nvGrpSpPr>
        <p:grpSpPr>
          <a:xfrm>
            <a:off x="6785238" y="3764449"/>
            <a:ext cx="4717524" cy="4960451"/>
            <a:chOff x="0" y="0"/>
            <a:chExt cx="1242476" cy="1306456"/>
          </a:xfrm>
        </p:grpSpPr>
        <p:sp>
          <p:nvSpPr>
            <p:cNvPr id="9" name="Freeform 9"/>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10" name="TextBox 10"/>
            <p:cNvSpPr txBox="1"/>
            <p:nvPr/>
          </p:nvSpPr>
          <p:spPr>
            <a:xfrm>
              <a:off x="0" y="-57150"/>
              <a:ext cx="1242476" cy="1363606"/>
            </a:xfrm>
            <a:prstGeom prst="rect">
              <a:avLst/>
            </a:prstGeom>
          </p:spPr>
          <p:txBody>
            <a:bodyPr lIns="127000" tIns="127000" rIns="127000" bIns="127000" rtlCol="0" anchor="ctr"/>
            <a:lstStyle/>
            <a:p>
              <a:pPr marL="0" lvl="0" indent="0" algn="ctr">
                <a:lnSpc>
                  <a:spcPts val="3081"/>
                </a:lnSpc>
              </a:pPr>
              <a:endParaRPr/>
            </a:p>
          </p:txBody>
        </p:sp>
      </p:grpSp>
      <p:grpSp>
        <p:nvGrpSpPr>
          <p:cNvPr id="11" name="Group 11"/>
          <p:cNvGrpSpPr/>
          <p:nvPr/>
        </p:nvGrpSpPr>
        <p:grpSpPr>
          <a:xfrm>
            <a:off x="11770251" y="3764449"/>
            <a:ext cx="4717524" cy="4960451"/>
            <a:chOff x="0" y="0"/>
            <a:chExt cx="1242476" cy="1306456"/>
          </a:xfrm>
        </p:grpSpPr>
        <p:sp>
          <p:nvSpPr>
            <p:cNvPr id="12" name="Freeform 12"/>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13" name="TextBox 13"/>
            <p:cNvSpPr txBox="1"/>
            <p:nvPr/>
          </p:nvSpPr>
          <p:spPr>
            <a:xfrm>
              <a:off x="0" y="-57150"/>
              <a:ext cx="1242476" cy="1363606"/>
            </a:xfrm>
            <a:prstGeom prst="rect">
              <a:avLst/>
            </a:prstGeom>
          </p:spPr>
          <p:txBody>
            <a:bodyPr lIns="127000" tIns="127000" rIns="127000" bIns="127000" rtlCol="0" anchor="ctr"/>
            <a:lstStyle/>
            <a:p>
              <a:pPr marL="0" lvl="0" indent="0" algn="ctr">
                <a:lnSpc>
                  <a:spcPts val="3081"/>
                </a:lnSpc>
              </a:pPr>
              <a:endParaRPr/>
            </a:p>
          </p:txBody>
        </p:sp>
      </p:grpSp>
      <p:sp>
        <p:nvSpPr>
          <p:cNvPr id="14" name="TextBox 14"/>
          <p:cNvSpPr txBox="1"/>
          <p:nvPr/>
        </p:nvSpPr>
        <p:spPr>
          <a:xfrm>
            <a:off x="2105025" y="1504950"/>
            <a:ext cx="14077950" cy="876300"/>
          </a:xfrm>
          <a:prstGeom prst="rect">
            <a:avLst/>
          </a:prstGeom>
        </p:spPr>
        <p:txBody>
          <a:bodyPr lIns="0" tIns="0" rIns="0" bIns="0" rtlCol="0" anchor="t">
            <a:spAutoFit/>
          </a:bodyPr>
          <a:lstStyle/>
          <a:p>
            <a:pPr marL="0" lvl="0" indent="0" algn="ctr">
              <a:lnSpc>
                <a:spcPts val="6480"/>
              </a:lnSpc>
            </a:pPr>
            <a:r>
              <a:rPr lang="en-US" sz="5400" b="1" spc="-135">
                <a:solidFill>
                  <a:srgbClr val="406882"/>
                </a:solidFill>
                <a:latin typeface="Gatwick Ultra-Bold"/>
                <a:ea typeface="Gatwick Ultra-Bold"/>
                <a:cs typeface="Gatwick Ultra-Bold"/>
                <a:sym typeface="Gatwick Ultra-Bold"/>
              </a:rPr>
              <a:t>Six Distinct Segments</a:t>
            </a:r>
          </a:p>
        </p:txBody>
      </p:sp>
      <p:sp>
        <p:nvSpPr>
          <p:cNvPr id="15" name="TextBox 15"/>
          <p:cNvSpPr txBox="1"/>
          <p:nvPr/>
        </p:nvSpPr>
        <p:spPr>
          <a:xfrm>
            <a:off x="2202924" y="4640610"/>
            <a:ext cx="4010025" cy="3151251"/>
          </a:xfrm>
          <a:prstGeom prst="rect">
            <a:avLst/>
          </a:prstGeom>
        </p:spPr>
        <p:txBody>
          <a:bodyPr lIns="0" tIns="0" rIns="0" bIns="0" rtlCol="0" anchor="t">
            <a:spAutoFit/>
          </a:bodyPr>
          <a:lstStyle/>
          <a:p>
            <a:pPr marL="0" lvl="0" indent="0" algn="ctr">
              <a:lnSpc>
                <a:spcPts val="3081"/>
              </a:lnSpc>
            </a:pPr>
            <a:r>
              <a:rPr lang="en-US" sz="2370" u="none" strike="noStrike">
                <a:solidFill>
                  <a:srgbClr val="406882"/>
                </a:solidFill>
                <a:latin typeface="Codec Pro"/>
                <a:ea typeface="Codec Pro"/>
                <a:cs typeface="Codec Pro"/>
                <a:sym typeface="Codec Pro"/>
              </a:rPr>
              <a:t>The K-Means clustering method revealed </a:t>
            </a:r>
            <a:r>
              <a:rPr lang="en-US" sz="2370" b="1" u="none" strike="noStrike">
                <a:solidFill>
                  <a:srgbClr val="406882"/>
                </a:solidFill>
                <a:latin typeface="Codec Pro Bold"/>
                <a:ea typeface="Codec Pro Bold"/>
                <a:cs typeface="Codec Pro Bold"/>
                <a:sym typeface="Codec Pro Bold"/>
              </a:rPr>
              <a:t>six unique sleep-health profiles</a:t>
            </a:r>
            <a:r>
              <a:rPr lang="en-US" sz="2370" u="none" strike="noStrike">
                <a:solidFill>
                  <a:srgbClr val="406882"/>
                </a:solidFill>
                <a:latin typeface="Codec Pro"/>
                <a:ea typeface="Codec Pro"/>
                <a:cs typeface="Codec Pro"/>
                <a:sym typeface="Codec Pro"/>
              </a:rPr>
              <a:t>, indicating diverse lifestyle patterns that differ significantly from a single, homogeneous population structure.</a:t>
            </a:r>
          </a:p>
        </p:txBody>
      </p:sp>
      <p:sp>
        <p:nvSpPr>
          <p:cNvPr id="16" name="TextBox 16"/>
          <p:cNvSpPr txBox="1"/>
          <p:nvPr/>
        </p:nvSpPr>
        <p:spPr>
          <a:xfrm>
            <a:off x="7187937" y="4640610"/>
            <a:ext cx="4010025" cy="3151251"/>
          </a:xfrm>
          <a:prstGeom prst="rect">
            <a:avLst/>
          </a:prstGeom>
        </p:spPr>
        <p:txBody>
          <a:bodyPr lIns="0" tIns="0" rIns="0" bIns="0" rtlCol="0" anchor="t">
            <a:spAutoFit/>
          </a:bodyPr>
          <a:lstStyle/>
          <a:p>
            <a:pPr marL="0" lvl="0" indent="0" algn="ctr">
              <a:lnSpc>
                <a:spcPts val="3081"/>
              </a:lnSpc>
            </a:pPr>
            <a:r>
              <a:rPr lang="en-US" sz="2370" u="none" strike="noStrike">
                <a:solidFill>
                  <a:srgbClr val="406882"/>
                </a:solidFill>
                <a:latin typeface="Codec Pro"/>
                <a:ea typeface="Codec Pro"/>
                <a:cs typeface="Codec Pro"/>
                <a:sym typeface="Codec Pro"/>
              </a:rPr>
              <a:t>The silhouette score of </a:t>
            </a:r>
            <a:r>
              <a:rPr lang="en-US" sz="2370" b="1" u="none" strike="noStrike">
                <a:solidFill>
                  <a:srgbClr val="406882"/>
                </a:solidFill>
                <a:latin typeface="Codec Pro Bold"/>
                <a:ea typeface="Codec Pro Bold"/>
                <a:cs typeface="Codec Pro Bold"/>
                <a:sym typeface="Codec Pro Bold"/>
              </a:rPr>
              <a:t>0.537</a:t>
            </a:r>
            <a:r>
              <a:rPr lang="en-US" sz="2370" u="none" strike="noStrike">
                <a:solidFill>
                  <a:srgbClr val="406882"/>
                </a:solidFill>
                <a:latin typeface="Codec Pro"/>
                <a:ea typeface="Codec Pro"/>
                <a:cs typeface="Codec Pro"/>
                <a:sym typeface="Codec Pro"/>
              </a:rPr>
              <a:t> substantiates the robustness of these clusters, demonstrating that the dataset indeed contains multiple distinct groups rather than a uniform distribution.</a:t>
            </a:r>
          </a:p>
        </p:txBody>
      </p:sp>
      <p:sp>
        <p:nvSpPr>
          <p:cNvPr id="17" name="TextBox 17"/>
          <p:cNvSpPr txBox="1"/>
          <p:nvPr/>
        </p:nvSpPr>
        <p:spPr>
          <a:xfrm>
            <a:off x="12172950" y="4640610"/>
            <a:ext cx="4010025" cy="3541776"/>
          </a:xfrm>
          <a:prstGeom prst="rect">
            <a:avLst/>
          </a:prstGeom>
        </p:spPr>
        <p:txBody>
          <a:bodyPr lIns="0" tIns="0" rIns="0" bIns="0" rtlCol="0" anchor="t">
            <a:spAutoFit/>
          </a:bodyPr>
          <a:lstStyle/>
          <a:p>
            <a:pPr marL="0" lvl="0" indent="0" algn="ctr">
              <a:lnSpc>
                <a:spcPts val="3081"/>
              </a:lnSpc>
            </a:pPr>
            <a:r>
              <a:rPr lang="en-US" sz="2370" u="none" strike="noStrike">
                <a:solidFill>
                  <a:srgbClr val="406882"/>
                </a:solidFill>
                <a:latin typeface="Codec Pro"/>
                <a:ea typeface="Codec Pro"/>
                <a:cs typeface="Codec Pro"/>
                <a:sym typeface="Codec Pro"/>
              </a:rPr>
              <a:t>This discovery highlights the complexity of sleep health, showcasing how various lifestyle factors intertwine, thus emphasizing the importance of individualized approaches to sleep health assessment.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265069"/>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1A1A2E"/>
            </a:solidFill>
          </p:spPr>
          <p:txBody>
            <a:bodyPr/>
            <a:lstStyle/>
            <a:p>
              <a:endParaRPr lang="en-US"/>
            </a:p>
          </p:txBody>
        </p:sp>
      </p:grpSp>
      <p:grpSp>
        <p:nvGrpSpPr>
          <p:cNvPr id="5" name="Group 5"/>
          <p:cNvGrpSpPr/>
          <p:nvPr/>
        </p:nvGrpSpPr>
        <p:grpSpPr>
          <a:xfrm>
            <a:off x="1800225" y="3352800"/>
            <a:ext cx="4619625" cy="3231344"/>
            <a:chOff x="0" y="0"/>
            <a:chExt cx="650279" cy="454859"/>
          </a:xfrm>
        </p:grpSpPr>
        <p:sp>
          <p:nvSpPr>
            <p:cNvPr id="6" name="Freeform 6"/>
            <p:cNvSpPr/>
            <p:nvPr/>
          </p:nvSpPr>
          <p:spPr>
            <a:xfrm>
              <a:off x="0" y="0"/>
              <a:ext cx="650279" cy="454859"/>
            </a:xfrm>
            <a:custGeom>
              <a:avLst/>
              <a:gdLst/>
              <a:ahLst/>
              <a:cxnLst/>
              <a:rect l="l" t="t" r="r" b="b"/>
              <a:pathLst>
                <a:path w="650279" h="45485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2"/>
              <a:stretch>
                <a:fillRect l="-232" r="-232"/>
              </a:stretch>
            </a:blipFill>
            <a:ln w="38100" cap="rnd">
              <a:solidFill>
                <a:srgbClr val="000000"/>
              </a:solidFill>
              <a:prstDash val="solid"/>
              <a:round/>
            </a:ln>
          </p:spPr>
          <p:txBody>
            <a:bodyPr/>
            <a:lstStyle/>
            <a:p>
              <a:endParaRPr lang="en-US"/>
            </a:p>
          </p:txBody>
        </p:sp>
      </p:grpSp>
      <p:grpSp>
        <p:nvGrpSpPr>
          <p:cNvPr id="7" name="Group 7"/>
          <p:cNvGrpSpPr/>
          <p:nvPr/>
        </p:nvGrpSpPr>
        <p:grpSpPr>
          <a:xfrm>
            <a:off x="6834188" y="3352800"/>
            <a:ext cx="4619625" cy="3231344"/>
            <a:chOff x="0" y="0"/>
            <a:chExt cx="650279" cy="454859"/>
          </a:xfrm>
        </p:grpSpPr>
        <p:sp>
          <p:nvSpPr>
            <p:cNvPr id="8" name="Freeform 8"/>
            <p:cNvSpPr/>
            <p:nvPr/>
          </p:nvSpPr>
          <p:spPr>
            <a:xfrm>
              <a:off x="0" y="0"/>
              <a:ext cx="650279" cy="454859"/>
            </a:xfrm>
            <a:custGeom>
              <a:avLst/>
              <a:gdLst/>
              <a:ahLst/>
              <a:cxnLst/>
              <a:rect l="l" t="t" r="r" b="b"/>
              <a:pathLst>
                <a:path w="650279" h="45485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3"/>
              <a:stretch>
                <a:fillRect l="-232" r="-232"/>
              </a:stretch>
            </a:blipFill>
            <a:ln w="38100" cap="rnd">
              <a:solidFill>
                <a:srgbClr val="000000"/>
              </a:solidFill>
              <a:prstDash val="solid"/>
              <a:round/>
            </a:ln>
          </p:spPr>
          <p:txBody>
            <a:bodyPr/>
            <a:lstStyle/>
            <a:p>
              <a:endParaRPr lang="en-US"/>
            </a:p>
          </p:txBody>
        </p:sp>
      </p:grpSp>
      <p:grpSp>
        <p:nvGrpSpPr>
          <p:cNvPr id="9" name="Group 9"/>
          <p:cNvGrpSpPr/>
          <p:nvPr/>
        </p:nvGrpSpPr>
        <p:grpSpPr>
          <a:xfrm>
            <a:off x="11865501" y="3352800"/>
            <a:ext cx="4623063" cy="3231344"/>
            <a:chOff x="0" y="0"/>
            <a:chExt cx="650763" cy="454859"/>
          </a:xfrm>
        </p:grpSpPr>
        <p:sp>
          <p:nvSpPr>
            <p:cNvPr id="10" name="Freeform 10"/>
            <p:cNvSpPr/>
            <p:nvPr/>
          </p:nvSpPr>
          <p:spPr>
            <a:xfrm>
              <a:off x="0" y="0"/>
              <a:ext cx="650763" cy="454859"/>
            </a:xfrm>
            <a:custGeom>
              <a:avLst/>
              <a:gdLst/>
              <a:ahLst/>
              <a:cxnLst/>
              <a:rect l="l" t="t" r="r" b="b"/>
              <a:pathLst>
                <a:path w="650763" h="454859">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4"/>
              <a:stretch>
                <a:fillRect l="-194" r="-194"/>
              </a:stretch>
            </a:blipFill>
            <a:ln w="38100" cap="rnd">
              <a:solidFill>
                <a:srgbClr val="000000"/>
              </a:solidFill>
              <a:prstDash val="solid"/>
              <a:round/>
            </a:ln>
          </p:spPr>
          <p:txBody>
            <a:bodyPr/>
            <a:lstStyle/>
            <a:p>
              <a:endParaRPr lang="en-US"/>
            </a:p>
          </p:txBody>
        </p:sp>
      </p:grpSp>
      <p:grpSp>
        <p:nvGrpSpPr>
          <p:cNvPr id="11" name="Group 11"/>
          <p:cNvGrpSpPr/>
          <p:nvPr/>
        </p:nvGrpSpPr>
        <p:grpSpPr>
          <a:xfrm>
            <a:off x="1800225" y="6934200"/>
            <a:ext cx="4619625" cy="1196340"/>
            <a:chOff x="0" y="0"/>
            <a:chExt cx="6159500" cy="1595120"/>
          </a:xfrm>
        </p:grpSpPr>
        <p:sp>
          <p:nvSpPr>
            <p:cNvPr id="12" name="TextBox 12"/>
            <p:cNvSpPr txBox="1"/>
            <p:nvPr/>
          </p:nvSpPr>
          <p:spPr>
            <a:xfrm>
              <a:off x="0" y="527685"/>
              <a:ext cx="6159500" cy="1067435"/>
            </a:xfrm>
            <a:prstGeom prst="rect">
              <a:avLst/>
            </a:prstGeom>
          </p:spPr>
          <p:txBody>
            <a:bodyPr lIns="0" tIns="0" rIns="0" bIns="0" rtlCol="0" anchor="t">
              <a:spAutoFit/>
            </a:bodyPr>
            <a:lstStyle/>
            <a:p>
              <a:pPr marL="0" lvl="0" indent="0" algn="ctr">
                <a:lnSpc>
                  <a:spcPts val="3120"/>
                </a:lnSpc>
              </a:pPr>
              <a:r>
                <a:rPr lang="en-US" sz="2400">
                  <a:solidFill>
                    <a:srgbClr val="D3D9E2"/>
                  </a:solidFill>
                  <a:latin typeface="Codec Pro"/>
                  <a:ea typeface="Codec Pro"/>
                  <a:cs typeface="Codec Pro"/>
                  <a:sym typeface="Codec Pro"/>
                </a:rPr>
                <a:t>Higher readings signify significant health concerns.</a:t>
              </a:r>
            </a:p>
          </p:txBody>
        </p:sp>
        <p:sp>
          <p:nvSpPr>
            <p:cNvPr id="13" name="TextBox 13"/>
            <p:cNvSpPr txBox="1"/>
            <p:nvPr/>
          </p:nvSpPr>
          <p:spPr>
            <a:xfrm>
              <a:off x="0" y="-66675"/>
              <a:ext cx="6159500" cy="559435"/>
            </a:xfrm>
            <a:prstGeom prst="rect">
              <a:avLst/>
            </a:prstGeom>
          </p:spPr>
          <p:txBody>
            <a:bodyPr lIns="0" tIns="0" rIns="0" bIns="0" rtlCol="0" anchor="t">
              <a:spAutoFit/>
            </a:bodyPr>
            <a:lstStyle/>
            <a:p>
              <a:pPr marL="0" lvl="0" indent="0" algn="ctr">
                <a:lnSpc>
                  <a:spcPts val="3120"/>
                </a:lnSpc>
              </a:pPr>
              <a:r>
                <a:rPr lang="en-US" sz="2400" b="1">
                  <a:solidFill>
                    <a:srgbClr val="D3D9E2"/>
                  </a:solidFill>
                  <a:latin typeface="Codec Pro Ultra-Bold"/>
                  <a:ea typeface="Codec Pro Ultra-Bold"/>
                  <a:cs typeface="Codec Pro Ultra-Bold"/>
                  <a:sym typeface="Codec Pro Ultra-Bold"/>
                </a:rPr>
                <a:t>Blood Pressure</a:t>
              </a:r>
            </a:p>
          </p:txBody>
        </p:sp>
      </p:grpSp>
      <p:grpSp>
        <p:nvGrpSpPr>
          <p:cNvPr id="14" name="Group 14"/>
          <p:cNvGrpSpPr/>
          <p:nvPr/>
        </p:nvGrpSpPr>
        <p:grpSpPr>
          <a:xfrm>
            <a:off x="6834188" y="6934200"/>
            <a:ext cx="4479254" cy="1196340"/>
            <a:chOff x="0" y="0"/>
            <a:chExt cx="5972338" cy="1595120"/>
          </a:xfrm>
        </p:grpSpPr>
        <p:sp>
          <p:nvSpPr>
            <p:cNvPr id="15" name="TextBox 15"/>
            <p:cNvSpPr txBox="1"/>
            <p:nvPr/>
          </p:nvSpPr>
          <p:spPr>
            <a:xfrm>
              <a:off x="0" y="527685"/>
              <a:ext cx="5972338" cy="1067435"/>
            </a:xfrm>
            <a:prstGeom prst="rect">
              <a:avLst/>
            </a:prstGeom>
          </p:spPr>
          <p:txBody>
            <a:bodyPr lIns="0" tIns="0" rIns="0" bIns="0" rtlCol="0" anchor="t">
              <a:spAutoFit/>
            </a:bodyPr>
            <a:lstStyle/>
            <a:p>
              <a:pPr marL="0" lvl="0" indent="0" algn="ctr">
                <a:lnSpc>
                  <a:spcPts val="3120"/>
                </a:lnSpc>
              </a:pPr>
              <a:r>
                <a:rPr lang="en-US" sz="2400">
                  <a:solidFill>
                    <a:srgbClr val="D3D9E2"/>
                  </a:solidFill>
                  <a:latin typeface="Codec Pro"/>
                  <a:ea typeface="Codec Pro"/>
                  <a:cs typeface="Codec Pro"/>
                  <a:sym typeface="Codec Pro"/>
                </a:rPr>
                <a:t>Variability impacts overall cardiovascular fitness levels.</a:t>
              </a:r>
            </a:p>
          </p:txBody>
        </p:sp>
        <p:sp>
          <p:nvSpPr>
            <p:cNvPr id="16" name="TextBox 16"/>
            <p:cNvSpPr txBox="1"/>
            <p:nvPr/>
          </p:nvSpPr>
          <p:spPr>
            <a:xfrm>
              <a:off x="0" y="-66675"/>
              <a:ext cx="5972338" cy="559435"/>
            </a:xfrm>
            <a:prstGeom prst="rect">
              <a:avLst/>
            </a:prstGeom>
          </p:spPr>
          <p:txBody>
            <a:bodyPr lIns="0" tIns="0" rIns="0" bIns="0" rtlCol="0" anchor="t">
              <a:spAutoFit/>
            </a:bodyPr>
            <a:lstStyle/>
            <a:p>
              <a:pPr marL="0" lvl="0" indent="0" algn="ctr">
                <a:lnSpc>
                  <a:spcPts val="3120"/>
                </a:lnSpc>
              </a:pPr>
              <a:r>
                <a:rPr lang="en-US" sz="2400" b="1">
                  <a:solidFill>
                    <a:srgbClr val="D3D9E2"/>
                  </a:solidFill>
                  <a:latin typeface="Codec Pro Ultra-Bold"/>
                  <a:ea typeface="Codec Pro Ultra-Bold"/>
                  <a:cs typeface="Codec Pro Ultra-Bold"/>
                  <a:sym typeface="Codec Pro Ultra-Bold"/>
                </a:rPr>
                <a:t>Heart Rate</a:t>
              </a:r>
            </a:p>
          </p:txBody>
        </p:sp>
      </p:grpSp>
      <p:grpSp>
        <p:nvGrpSpPr>
          <p:cNvPr id="17" name="Group 17"/>
          <p:cNvGrpSpPr/>
          <p:nvPr/>
        </p:nvGrpSpPr>
        <p:grpSpPr>
          <a:xfrm>
            <a:off x="11868150" y="6934200"/>
            <a:ext cx="4620413" cy="1586865"/>
            <a:chOff x="0" y="0"/>
            <a:chExt cx="6160551" cy="2115820"/>
          </a:xfrm>
        </p:grpSpPr>
        <p:sp>
          <p:nvSpPr>
            <p:cNvPr id="18" name="TextBox 18"/>
            <p:cNvSpPr txBox="1"/>
            <p:nvPr/>
          </p:nvSpPr>
          <p:spPr>
            <a:xfrm>
              <a:off x="0" y="527685"/>
              <a:ext cx="6160551" cy="1588135"/>
            </a:xfrm>
            <a:prstGeom prst="rect">
              <a:avLst/>
            </a:prstGeom>
          </p:spPr>
          <p:txBody>
            <a:bodyPr lIns="0" tIns="0" rIns="0" bIns="0" rtlCol="0" anchor="t">
              <a:spAutoFit/>
            </a:bodyPr>
            <a:lstStyle/>
            <a:p>
              <a:pPr marL="0" lvl="0" indent="0" algn="ctr">
                <a:lnSpc>
                  <a:spcPts val="3120"/>
                </a:lnSpc>
              </a:pPr>
              <a:r>
                <a:rPr lang="en-US" sz="2400">
                  <a:solidFill>
                    <a:srgbClr val="D3D9E2"/>
                  </a:solidFill>
                  <a:latin typeface="Codec Pro"/>
                  <a:ea typeface="Codec Pro"/>
                  <a:cs typeface="Codec Pro"/>
                  <a:sym typeface="Codec Pro"/>
                </a:rPr>
                <a:t>Active lifestyles promote improved sleep health outcomes.</a:t>
              </a:r>
            </a:p>
          </p:txBody>
        </p:sp>
        <p:sp>
          <p:nvSpPr>
            <p:cNvPr id="19" name="TextBox 19"/>
            <p:cNvSpPr txBox="1"/>
            <p:nvPr/>
          </p:nvSpPr>
          <p:spPr>
            <a:xfrm>
              <a:off x="0" y="-66675"/>
              <a:ext cx="6160551" cy="559435"/>
            </a:xfrm>
            <a:prstGeom prst="rect">
              <a:avLst/>
            </a:prstGeom>
          </p:spPr>
          <p:txBody>
            <a:bodyPr lIns="0" tIns="0" rIns="0" bIns="0" rtlCol="0" anchor="t">
              <a:spAutoFit/>
            </a:bodyPr>
            <a:lstStyle/>
            <a:p>
              <a:pPr marL="0" lvl="0" indent="0" algn="ctr">
                <a:lnSpc>
                  <a:spcPts val="3120"/>
                </a:lnSpc>
              </a:pPr>
              <a:r>
                <a:rPr lang="en-US" sz="2400" b="1">
                  <a:solidFill>
                    <a:srgbClr val="D3D9E2"/>
                  </a:solidFill>
                  <a:latin typeface="Codec Pro Ultra-Bold"/>
                  <a:ea typeface="Codec Pro Ultra-Bold"/>
                  <a:cs typeface="Codec Pro Ultra-Bold"/>
                  <a:sym typeface="Codec Pro Ultra-Bold"/>
                </a:rPr>
                <a:t>Physical Activity</a:t>
              </a:r>
            </a:p>
          </p:txBody>
        </p:sp>
      </p:grpSp>
      <p:sp>
        <p:nvSpPr>
          <p:cNvPr id="20" name="TextBox 20"/>
          <p:cNvSpPr txBox="1"/>
          <p:nvPr/>
        </p:nvSpPr>
        <p:spPr>
          <a:xfrm>
            <a:off x="2105025" y="1509712"/>
            <a:ext cx="14077950" cy="866775"/>
          </a:xfrm>
          <a:prstGeom prst="rect">
            <a:avLst/>
          </a:prstGeom>
        </p:spPr>
        <p:txBody>
          <a:bodyPr lIns="0" tIns="0" rIns="0" bIns="0" rtlCol="0" anchor="t">
            <a:spAutoFit/>
          </a:bodyPr>
          <a:lstStyle/>
          <a:p>
            <a:pPr marL="0" lvl="0" indent="0" algn="ctr">
              <a:lnSpc>
                <a:spcPts val="6398"/>
              </a:lnSpc>
            </a:pPr>
            <a:r>
              <a:rPr lang="en-US" sz="5332" b="1" spc="-133">
                <a:solidFill>
                  <a:srgbClr val="62A1D7"/>
                </a:solidFill>
                <a:latin typeface="Gatwick Ultra-Bold"/>
                <a:ea typeface="Gatwick Ultra-Bold"/>
                <a:cs typeface="Gatwick Ultra-Bold"/>
                <a:sym typeface="Gatwick Ultra-Bold"/>
              </a:rPr>
              <a:t>Distinguishing Features of Groups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grpSp>
        <p:nvGrpSpPr>
          <p:cNvPr id="5" name="Group 5"/>
          <p:cNvGrpSpPr/>
          <p:nvPr/>
        </p:nvGrpSpPr>
        <p:grpSpPr>
          <a:xfrm>
            <a:off x="1800225" y="3348058"/>
            <a:ext cx="6057900" cy="3034665"/>
            <a:chOff x="0" y="0"/>
            <a:chExt cx="8077200" cy="4046220"/>
          </a:xfrm>
        </p:grpSpPr>
        <p:sp>
          <p:nvSpPr>
            <p:cNvPr id="6" name="TextBox 6"/>
            <p:cNvSpPr txBox="1"/>
            <p:nvPr/>
          </p:nvSpPr>
          <p:spPr>
            <a:xfrm>
              <a:off x="0" y="2458085"/>
              <a:ext cx="8077200" cy="1588135"/>
            </a:xfrm>
            <a:prstGeom prst="rect">
              <a:avLst/>
            </a:prstGeom>
          </p:spPr>
          <p:txBody>
            <a:bodyPr lIns="0" tIns="0" rIns="0" bIns="0" rtlCol="0" anchor="t">
              <a:spAutoFit/>
            </a:bodyPr>
            <a:lstStyle/>
            <a:p>
              <a:pPr marL="0" lvl="0" indent="0" algn="ctr">
                <a:lnSpc>
                  <a:spcPts val="3120"/>
                </a:lnSpc>
              </a:pPr>
              <a:r>
                <a:rPr lang="en-US" sz="2400">
                  <a:solidFill>
                    <a:srgbClr val="406882"/>
                  </a:solidFill>
                  <a:latin typeface="Codec Pro"/>
                  <a:ea typeface="Codec Pro"/>
                  <a:cs typeface="Codec Pro"/>
                  <a:sym typeface="Codec Pro"/>
                </a:rPr>
                <a:t>PCA captured about </a:t>
              </a:r>
              <a:r>
                <a:rPr lang="en-US" sz="2400" b="1">
                  <a:solidFill>
                    <a:srgbClr val="406882"/>
                  </a:solidFill>
                  <a:latin typeface="Codec Pro Bold"/>
                  <a:ea typeface="Codec Pro Bold"/>
                  <a:cs typeface="Codec Pro Bold"/>
                  <a:sym typeface="Codec Pro Bold"/>
                </a:rPr>
                <a:t>70% of the variance</a:t>
              </a:r>
              <a:r>
                <a:rPr lang="en-US" sz="2400">
                  <a:solidFill>
                    <a:srgbClr val="406882"/>
                  </a:solidFill>
                  <a:latin typeface="Codec Pro"/>
                  <a:ea typeface="Codec Pro"/>
                  <a:cs typeface="Codec Pro"/>
                  <a:sym typeface="Codec Pro"/>
                </a:rPr>
                <a:t>, revealing clear separation between clusters visually.</a:t>
              </a:r>
            </a:p>
          </p:txBody>
        </p:sp>
        <p:sp>
          <p:nvSpPr>
            <p:cNvPr id="7" name="TextBox 7"/>
            <p:cNvSpPr txBox="1"/>
            <p:nvPr/>
          </p:nvSpPr>
          <p:spPr>
            <a:xfrm>
              <a:off x="0" y="1863725"/>
              <a:ext cx="8077200" cy="559435"/>
            </a:xfrm>
            <a:prstGeom prst="rect">
              <a:avLst/>
            </a:prstGeom>
          </p:spPr>
          <p:txBody>
            <a:bodyPr lIns="0" tIns="0" rIns="0" bIns="0" rtlCol="0" anchor="t">
              <a:spAutoFit/>
            </a:bodyPr>
            <a:lstStyle/>
            <a:p>
              <a:pPr marL="0" lvl="0" indent="0" algn="ctr">
                <a:lnSpc>
                  <a:spcPts val="3120"/>
                </a:lnSpc>
              </a:pPr>
              <a:r>
                <a:rPr lang="en-US" sz="2400" b="1">
                  <a:solidFill>
                    <a:srgbClr val="406882"/>
                  </a:solidFill>
                  <a:latin typeface="Codec Pro Ultra-Bold"/>
                  <a:ea typeface="Codec Pro Ultra-Bold"/>
                  <a:cs typeface="Codec Pro Ultra-Bold"/>
                  <a:sym typeface="Codec Pro Ultra-Bold"/>
                </a:rPr>
                <a:t>Variance Explained by PCA</a:t>
              </a:r>
            </a:p>
          </p:txBody>
        </p:sp>
        <p:sp>
          <p:nvSpPr>
            <p:cNvPr id="8" name="TextBox 8"/>
            <p:cNvSpPr txBox="1"/>
            <p:nvPr/>
          </p:nvSpPr>
          <p:spPr>
            <a:xfrm>
              <a:off x="0" y="-85725"/>
              <a:ext cx="8077200" cy="1609725"/>
            </a:xfrm>
            <a:prstGeom prst="rect">
              <a:avLst/>
            </a:prstGeom>
          </p:spPr>
          <p:txBody>
            <a:bodyPr lIns="0" tIns="0" rIns="0" bIns="0" rtlCol="0" anchor="t">
              <a:spAutoFit/>
            </a:bodyPr>
            <a:lstStyle/>
            <a:p>
              <a:pPr marL="0" lvl="0" indent="0" algn="ctr">
                <a:lnSpc>
                  <a:spcPts val="9000"/>
                </a:lnSpc>
              </a:pPr>
              <a:r>
                <a:rPr lang="en-US" sz="7500" b="1" spc="-187">
                  <a:solidFill>
                    <a:srgbClr val="406882"/>
                  </a:solidFill>
                  <a:latin typeface="Gatwick Bold"/>
                  <a:ea typeface="Gatwick Bold"/>
                  <a:cs typeface="Gatwick Bold"/>
                  <a:sym typeface="Gatwick Bold"/>
                </a:rPr>
                <a:t>70%</a:t>
              </a:r>
            </a:p>
          </p:txBody>
        </p:sp>
      </p:grpSp>
      <p:grpSp>
        <p:nvGrpSpPr>
          <p:cNvPr id="9" name="Group 9"/>
          <p:cNvGrpSpPr/>
          <p:nvPr/>
        </p:nvGrpSpPr>
        <p:grpSpPr>
          <a:xfrm>
            <a:off x="8991600" y="1562100"/>
            <a:ext cx="7496175" cy="7162800"/>
            <a:chOff x="0" y="0"/>
            <a:chExt cx="1055195" cy="1008268"/>
          </a:xfrm>
        </p:grpSpPr>
        <p:sp>
          <p:nvSpPr>
            <p:cNvPr id="10" name="Freeform 10"/>
            <p:cNvSpPr/>
            <p:nvPr/>
          </p:nvSpPr>
          <p:spPr>
            <a:xfrm>
              <a:off x="0" y="0"/>
              <a:ext cx="1055195" cy="1008268"/>
            </a:xfrm>
            <a:custGeom>
              <a:avLst/>
              <a:gdLst/>
              <a:ahLst/>
              <a:cxnLst/>
              <a:rect l="l" t="t" r="r" b="b"/>
              <a:pathLst>
                <a:path w="1055195" h="1008268">
                  <a:moveTo>
                    <a:pt x="36147" y="0"/>
                  </a:moveTo>
                  <a:lnTo>
                    <a:pt x="1019048" y="0"/>
                  </a:lnTo>
                  <a:cubicBezTo>
                    <a:pt x="1028635" y="0"/>
                    <a:pt x="1037829" y="3808"/>
                    <a:pt x="1044608" y="10587"/>
                  </a:cubicBezTo>
                  <a:cubicBezTo>
                    <a:pt x="1051387" y="17366"/>
                    <a:pt x="1055195" y="26561"/>
                    <a:pt x="1055195" y="36147"/>
                  </a:cubicBezTo>
                  <a:lnTo>
                    <a:pt x="1055195" y="972121"/>
                  </a:lnTo>
                  <a:cubicBezTo>
                    <a:pt x="1055195" y="992084"/>
                    <a:pt x="1039012" y="1008268"/>
                    <a:pt x="1019048" y="1008268"/>
                  </a:cubicBezTo>
                  <a:lnTo>
                    <a:pt x="36147" y="1008268"/>
                  </a:lnTo>
                  <a:cubicBezTo>
                    <a:pt x="16184" y="1008268"/>
                    <a:pt x="0" y="992084"/>
                    <a:pt x="0" y="972121"/>
                  </a:cubicBezTo>
                  <a:lnTo>
                    <a:pt x="0" y="36147"/>
                  </a:lnTo>
                  <a:cubicBezTo>
                    <a:pt x="0" y="16184"/>
                    <a:pt x="16184" y="0"/>
                    <a:pt x="36147" y="0"/>
                  </a:cubicBezTo>
                  <a:close/>
                </a:path>
              </a:pathLst>
            </a:custGeom>
            <a:blipFill>
              <a:blip r:embed="rId2"/>
              <a:stretch>
                <a:fillRect t="-234" b="-234"/>
              </a:stretch>
            </a:blipFill>
            <a:ln w="38100" cap="rnd">
              <a:solidFill>
                <a:srgbClr val="000000"/>
              </a:solidFill>
              <a:prstDash val="solid"/>
              <a:round/>
            </a:ln>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grpSp>
        <p:nvGrpSpPr>
          <p:cNvPr id="5" name="Group 5"/>
          <p:cNvGrpSpPr/>
          <p:nvPr/>
        </p:nvGrpSpPr>
        <p:grpSpPr>
          <a:xfrm>
            <a:off x="1800225" y="3764449"/>
            <a:ext cx="4717524" cy="4960451"/>
            <a:chOff x="0" y="0"/>
            <a:chExt cx="1242476" cy="1306456"/>
          </a:xfrm>
        </p:grpSpPr>
        <p:sp>
          <p:nvSpPr>
            <p:cNvPr id="6" name="Freeform 6"/>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7" name="TextBox 7"/>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spcBef>
                  <a:spcPct val="0"/>
                </a:spcBef>
              </a:pPr>
              <a:endParaRPr/>
            </a:p>
          </p:txBody>
        </p:sp>
      </p:grpSp>
      <p:grpSp>
        <p:nvGrpSpPr>
          <p:cNvPr id="8" name="Group 8"/>
          <p:cNvGrpSpPr/>
          <p:nvPr/>
        </p:nvGrpSpPr>
        <p:grpSpPr>
          <a:xfrm>
            <a:off x="6785238" y="3764449"/>
            <a:ext cx="4717524" cy="4960451"/>
            <a:chOff x="0" y="0"/>
            <a:chExt cx="1242476" cy="1306456"/>
          </a:xfrm>
        </p:grpSpPr>
        <p:sp>
          <p:nvSpPr>
            <p:cNvPr id="9" name="Freeform 9"/>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10" name="TextBox 10"/>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spcBef>
                  <a:spcPct val="0"/>
                </a:spcBef>
              </a:pPr>
              <a:endParaRPr/>
            </a:p>
          </p:txBody>
        </p:sp>
      </p:grpSp>
      <p:grpSp>
        <p:nvGrpSpPr>
          <p:cNvPr id="11" name="Group 11"/>
          <p:cNvGrpSpPr/>
          <p:nvPr/>
        </p:nvGrpSpPr>
        <p:grpSpPr>
          <a:xfrm>
            <a:off x="11770251" y="3764449"/>
            <a:ext cx="4717524" cy="4960451"/>
            <a:chOff x="0" y="0"/>
            <a:chExt cx="1242476" cy="1306456"/>
          </a:xfrm>
        </p:grpSpPr>
        <p:sp>
          <p:nvSpPr>
            <p:cNvPr id="12" name="Freeform 12"/>
            <p:cNvSpPr/>
            <p:nvPr/>
          </p:nvSpPr>
          <p:spPr>
            <a:xfrm>
              <a:off x="0" y="0"/>
              <a:ext cx="1242476" cy="1306456"/>
            </a:xfrm>
            <a:custGeom>
              <a:avLst/>
              <a:gdLst/>
              <a:ahLst/>
              <a:cxnLst/>
              <a:rect l="l" t="t" r="r" b="b"/>
              <a:pathLst>
                <a:path w="1242476" h="130645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ln w="38100" cap="rnd">
              <a:solidFill>
                <a:srgbClr val="000000"/>
              </a:solidFill>
              <a:prstDash val="solid"/>
              <a:round/>
            </a:ln>
          </p:spPr>
          <p:txBody>
            <a:bodyPr/>
            <a:lstStyle/>
            <a:p>
              <a:endParaRPr lang="en-US"/>
            </a:p>
          </p:txBody>
        </p:sp>
        <p:sp>
          <p:nvSpPr>
            <p:cNvPr id="13" name="TextBox 13"/>
            <p:cNvSpPr txBox="1"/>
            <p:nvPr/>
          </p:nvSpPr>
          <p:spPr>
            <a:xfrm>
              <a:off x="0" y="-66675"/>
              <a:ext cx="1242476" cy="1373131"/>
            </a:xfrm>
            <a:prstGeom prst="rect">
              <a:avLst/>
            </a:prstGeom>
          </p:spPr>
          <p:txBody>
            <a:bodyPr lIns="127000" tIns="127000" rIns="127000" bIns="127000" rtlCol="0" anchor="ctr"/>
            <a:lstStyle/>
            <a:p>
              <a:pPr marL="0" lvl="0" indent="0" algn="ctr">
                <a:lnSpc>
                  <a:spcPts val="3120"/>
                </a:lnSpc>
                <a:spcBef>
                  <a:spcPct val="0"/>
                </a:spcBef>
              </a:pPr>
              <a:endParaRPr/>
            </a:p>
          </p:txBody>
        </p:sp>
      </p:grpSp>
      <p:sp>
        <p:nvSpPr>
          <p:cNvPr id="14" name="TextBox 14"/>
          <p:cNvSpPr txBox="1"/>
          <p:nvPr/>
        </p:nvSpPr>
        <p:spPr>
          <a:xfrm>
            <a:off x="2105025" y="1504950"/>
            <a:ext cx="14077950" cy="1695450"/>
          </a:xfrm>
          <a:prstGeom prst="rect">
            <a:avLst/>
          </a:prstGeom>
        </p:spPr>
        <p:txBody>
          <a:bodyPr lIns="0" tIns="0" rIns="0" bIns="0" rtlCol="0" anchor="t">
            <a:spAutoFit/>
          </a:bodyPr>
          <a:lstStyle/>
          <a:p>
            <a:pPr marL="0" lvl="0" indent="0" algn="ctr">
              <a:lnSpc>
                <a:spcPts val="6480"/>
              </a:lnSpc>
            </a:pPr>
            <a:r>
              <a:rPr lang="en-US" sz="5400" b="1" spc="-135">
                <a:solidFill>
                  <a:srgbClr val="62A1D7"/>
                </a:solidFill>
                <a:latin typeface="Gatwick Ultra-Bold"/>
                <a:ea typeface="Gatwick Ultra-Bold"/>
                <a:cs typeface="Gatwick Ultra-Bold"/>
                <a:sym typeface="Gatwick Ultra-Bold"/>
              </a:rPr>
              <a:t>Identifying Anomalies: Insights from LOF Analysis</a:t>
            </a:r>
          </a:p>
        </p:txBody>
      </p:sp>
      <p:grpSp>
        <p:nvGrpSpPr>
          <p:cNvPr id="15" name="Group 15"/>
          <p:cNvGrpSpPr/>
          <p:nvPr/>
        </p:nvGrpSpPr>
        <p:grpSpPr>
          <a:xfrm>
            <a:off x="2178450" y="4248150"/>
            <a:ext cx="3961075" cy="3148938"/>
            <a:chOff x="0" y="0"/>
            <a:chExt cx="5281434" cy="4198584"/>
          </a:xfrm>
        </p:grpSpPr>
        <p:sp>
          <p:nvSpPr>
            <p:cNvPr id="16" name="TextBox 16"/>
            <p:cNvSpPr txBox="1"/>
            <p:nvPr/>
          </p:nvSpPr>
          <p:spPr>
            <a:xfrm>
              <a:off x="0" y="527649"/>
              <a:ext cx="5281434" cy="3670935"/>
            </a:xfrm>
            <a:prstGeom prst="rect">
              <a:avLst/>
            </a:prstGeom>
          </p:spPr>
          <p:txBody>
            <a:bodyPr lIns="0" tIns="0" rIns="0" bIns="0" rtlCol="0" anchor="t">
              <a:spAutoFit/>
            </a:bodyPr>
            <a:lstStyle/>
            <a:p>
              <a:pPr marL="0" lvl="0" indent="0" algn="ctr">
                <a:lnSpc>
                  <a:spcPts val="3120"/>
                </a:lnSpc>
              </a:pPr>
              <a:r>
                <a:rPr lang="en-US" sz="2400">
                  <a:solidFill>
                    <a:srgbClr val="406882"/>
                  </a:solidFill>
                  <a:latin typeface="Codec Pro"/>
                  <a:ea typeface="Codec Pro"/>
                  <a:cs typeface="Codec Pro"/>
                  <a:sym typeface="Codec Pro"/>
                </a:rPr>
                <a:t>The LOF method revealed </a:t>
              </a:r>
              <a:r>
                <a:rPr lang="en-US" sz="2400" b="1">
                  <a:solidFill>
                    <a:srgbClr val="406882"/>
                  </a:solidFill>
                  <a:latin typeface="Codec Pro Bold"/>
                  <a:ea typeface="Codec Pro Bold"/>
                  <a:cs typeface="Codec Pro Bold"/>
                  <a:sym typeface="Codec Pro Bold"/>
                </a:rPr>
                <a:t>18 unique profiles</a:t>
              </a:r>
              <a:r>
                <a:rPr lang="en-US" sz="2400">
                  <a:solidFill>
                    <a:srgbClr val="406882"/>
                  </a:solidFill>
                  <a:latin typeface="Codec Pro"/>
                  <a:ea typeface="Codec Pro"/>
                  <a:cs typeface="Codec Pro"/>
                  <a:sym typeface="Codec Pro"/>
                </a:rPr>
                <a:t>, representing about 5% of the dataset, highlighting their significance in understanding sleep-health patterns.</a:t>
              </a:r>
            </a:p>
          </p:txBody>
        </p:sp>
        <p:sp>
          <p:nvSpPr>
            <p:cNvPr id="17" name="TextBox 17"/>
            <p:cNvSpPr txBox="1"/>
            <p:nvPr/>
          </p:nvSpPr>
          <p:spPr>
            <a:xfrm>
              <a:off x="0" y="-66675"/>
              <a:ext cx="5281434" cy="559435"/>
            </a:xfrm>
            <a:prstGeom prst="rect">
              <a:avLst/>
            </a:prstGeom>
          </p:spPr>
          <p:txBody>
            <a:bodyPr lIns="0" tIns="0" rIns="0" bIns="0" rtlCol="0" anchor="t">
              <a:spAutoFit/>
            </a:bodyPr>
            <a:lstStyle/>
            <a:p>
              <a:pPr marL="0" lvl="0" indent="0" algn="ctr">
                <a:lnSpc>
                  <a:spcPts val="3120"/>
                </a:lnSpc>
              </a:pPr>
              <a:r>
                <a:rPr lang="en-US" sz="2400" b="1">
                  <a:solidFill>
                    <a:srgbClr val="406882"/>
                  </a:solidFill>
                  <a:latin typeface="Codec Pro Ultra-Bold"/>
                  <a:ea typeface="Codec Pro Ultra-Bold"/>
                  <a:cs typeface="Codec Pro Ultra-Bold"/>
                  <a:sym typeface="Codec Pro Ultra-Bold"/>
                </a:rPr>
                <a:t>Unusual Profiles Detected</a:t>
              </a:r>
            </a:p>
          </p:txBody>
        </p:sp>
      </p:grpSp>
      <p:grpSp>
        <p:nvGrpSpPr>
          <p:cNvPr id="18" name="Group 18"/>
          <p:cNvGrpSpPr/>
          <p:nvPr/>
        </p:nvGrpSpPr>
        <p:grpSpPr>
          <a:xfrm>
            <a:off x="7163462" y="4248150"/>
            <a:ext cx="3961075" cy="3148965"/>
            <a:chOff x="0" y="0"/>
            <a:chExt cx="5281434" cy="4198620"/>
          </a:xfrm>
        </p:grpSpPr>
        <p:sp>
          <p:nvSpPr>
            <p:cNvPr id="19" name="TextBox 19"/>
            <p:cNvSpPr txBox="1"/>
            <p:nvPr/>
          </p:nvSpPr>
          <p:spPr>
            <a:xfrm>
              <a:off x="0" y="527685"/>
              <a:ext cx="5281434" cy="3670935"/>
            </a:xfrm>
            <a:prstGeom prst="rect">
              <a:avLst/>
            </a:prstGeom>
          </p:spPr>
          <p:txBody>
            <a:bodyPr lIns="0" tIns="0" rIns="0" bIns="0" rtlCol="0" anchor="t">
              <a:spAutoFit/>
            </a:bodyPr>
            <a:lstStyle/>
            <a:p>
              <a:pPr marL="0" lvl="0" indent="0" algn="ctr">
                <a:lnSpc>
                  <a:spcPts val="3120"/>
                </a:lnSpc>
              </a:pPr>
              <a:r>
                <a:rPr lang="en-US" sz="2400">
                  <a:solidFill>
                    <a:srgbClr val="406882"/>
                  </a:solidFill>
                  <a:latin typeface="Codec Pro"/>
                  <a:ea typeface="Codec Pro"/>
                  <a:cs typeface="Codec Pro"/>
                  <a:sym typeface="Codec Pro"/>
                </a:rPr>
                <a:t>These anomalies reflect </a:t>
              </a:r>
              <a:r>
                <a:rPr lang="en-US" sz="2400" b="1">
                  <a:solidFill>
                    <a:srgbClr val="406882"/>
                  </a:solidFill>
                  <a:latin typeface="Codec Pro Bold"/>
                  <a:ea typeface="Codec Pro Bold"/>
                  <a:cs typeface="Codec Pro Bold"/>
                  <a:sym typeface="Codec Pro Bold"/>
                </a:rPr>
                <a:t>unusual combinations</a:t>
              </a:r>
              <a:r>
                <a:rPr lang="en-US" sz="2400">
                  <a:solidFill>
                    <a:srgbClr val="406882"/>
                  </a:solidFill>
                  <a:latin typeface="Codec Pro"/>
                  <a:ea typeface="Codec Pro"/>
                  <a:cs typeface="Codec Pro"/>
                  <a:sym typeface="Codec Pro"/>
                </a:rPr>
                <a:t> of activity, stress, and cardiovascular indicators, indicating potential edge cases worth further exploration.</a:t>
              </a:r>
            </a:p>
          </p:txBody>
        </p:sp>
        <p:sp>
          <p:nvSpPr>
            <p:cNvPr id="20" name="TextBox 20"/>
            <p:cNvSpPr txBox="1"/>
            <p:nvPr/>
          </p:nvSpPr>
          <p:spPr>
            <a:xfrm>
              <a:off x="0" y="-66675"/>
              <a:ext cx="5281434" cy="559435"/>
            </a:xfrm>
            <a:prstGeom prst="rect">
              <a:avLst/>
            </a:prstGeom>
          </p:spPr>
          <p:txBody>
            <a:bodyPr lIns="0" tIns="0" rIns="0" bIns="0" rtlCol="0" anchor="t">
              <a:spAutoFit/>
            </a:bodyPr>
            <a:lstStyle/>
            <a:p>
              <a:pPr marL="0" lvl="0" indent="0" algn="ctr">
                <a:lnSpc>
                  <a:spcPts val="3120"/>
                </a:lnSpc>
              </a:pPr>
              <a:r>
                <a:rPr lang="en-US" sz="2400" b="1">
                  <a:solidFill>
                    <a:srgbClr val="406882"/>
                  </a:solidFill>
                  <a:latin typeface="Codec Pro Ultra-Bold"/>
                  <a:ea typeface="Codec Pro Ultra-Bold"/>
                  <a:cs typeface="Codec Pro Ultra-Bold"/>
                  <a:sym typeface="Codec Pro Ultra-Bold"/>
                </a:rPr>
                <a:t>Not Just Poor Data</a:t>
              </a:r>
            </a:p>
          </p:txBody>
        </p:sp>
      </p:grpSp>
      <p:grpSp>
        <p:nvGrpSpPr>
          <p:cNvPr id="21" name="Group 21"/>
          <p:cNvGrpSpPr/>
          <p:nvPr/>
        </p:nvGrpSpPr>
        <p:grpSpPr>
          <a:xfrm>
            <a:off x="12148475" y="4248150"/>
            <a:ext cx="3961075" cy="3939540"/>
            <a:chOff x="0" y="0"/>
            <a:chExt cx="5281434" cy="5252720"/>
          </a:xfrm>
        </p:grpSpPr>
        <p:sp>
          <p:nvSpPr>
            <p:cNvPr id="22" name="TextBox 22"/>
            <p:cNvSpPr txBox="1"/>
            <p:nvPr/>
          </p:nvSpPr>
          <p:spPr>
            <a:xfrm>
              <a:off x="0" y="1061085"/>
              <a:ext cx="5281434" cy="4191635"/>
            </a:xfrm>
            <a:prstGeom prst="rect">
              <a:avLst/>
            </a:prstGeom>
          </p:spPr>
          <p:txBody>
            <a:bodyPr lIns="0" tIns="0" rIns="0" bIns="0" rtlCol="0" anchor="t">
              <a:spAutoFit/>
            </a:bodyPr>
            <a:lstStyle/>
            <a:p>
              <a:pPr marL="0" lvl="0" indent="0" algn="ctr">
                <a:lnSpc>
                  <a:spcPts val="3120"/>
                </a:lnSpc>
              </a:pPr>
              <a:r>
                <a:rPr lang="en-US" sz="2400">
                  <a:solidFill>
                    <a:srgbClr val="406882"/>
                  </a:solidFill>
                  <a:latin typeface="Codec Pro"/>
                  <a:ea typeface="Codec Pro"/>
                  <a:cs typeface="Codec Pro"/>
                  <a:sym typeface="Codec Pro"/>
                </a:rPr>
                <a:t>Profiles identified by LOF warrant </a:t>
              </a:r>
              <a:r>
                <a:rPr lang="en-US" sz="2400" b="1">
                  <a:solidFill>
                    <a:srgbClr val="406882"/>
                  </a:solidFill>
                  <a:latin typeface="Codec Pro Bold"/>
                  <a:ea typeface="Codec Pro Bold"/>
                  <a:cs typeface="Codec Pro Bold"/>
                  <a:sym typeface="Codec Pro Bold"/>
                </a:rPr>
                <a:t>individual attention</a:t>
              </a:r>
              <a:r>
                <a:rPr lang="en-US" sz="2400">
                  <a:solidFill>
                    <a:srgbClr val="406882"/>
                  </a:solidFill>
                  <a:latin typeface="Codec Pro"/>
                  <a:ea typeface="Codec Pro"/>
                  <a:cs typeface="Codec Pro"/>
                  <a:sym typeface="Codec Pro"/>
                </a:rPr>
                <a:t>, as they may offer insights that differ from general cluster narratives, enhancing our understanding of sleep health.</a:t>
              </a:r>
            </a:p>
          </p:txBody>
        </p:sp>
        <p:sp>
          <p:nvSpPr>
            <p:cNvPr id="23" name="TextBox 23"/>
            <p:cNvSpPr txBox="1"/>
            <p:nvPr/>
          </p:nvSpPr>
          <p:spPr>
            <a:xfrm>
              <a:off x="0" y="-66675"/>
              <a:ext cx="5281434" cy="1092835"/>
            </a:xfrm>
            <a:prstGeom prst="rect">
              <a:avLst/>
            </a:prstGeom>
          </p:spPr>
          <p:txBody>
            <a:bodyPr lIns="0" tIns="0" rIns="0" bIns="0" rtlCol="0" anchor="t">
              <a:spAutoFit/>
            </a:bodyPr>
            <a:lstStyle/>
            <a:p>
              <a:pPr marL="0" lvl="0" indent="0" algn="ctr">
                <a:lnSpc>
                  <a:spcPts val="3120"/>
                </a:lnSpc>
              </a:pPr>
              <a:r>
                <a:rPr lang="en-US" sz="2400" b="1">
                  <a:solidFill>
                    <a:srgbClr val="406882"/>
                  </a:solidFill>
                  <a:latin typeface="Codec Pro Ultra-Bold"/>
                  <a:ea typeface="Codec Pro Ultra-Bold"/>
                  <a:cs typeface="Codec Pro Ultra-Bold"/>
                  <a:sym typeface="Codec Pro Ultra-Bold"/>
                </a:rPr>
                <a:t>Importance of Investigation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grpSp>
        <p:nvGrpSpPr>
          <p:cNvPr id="5" name="Group 5"/>
          <p:cNvGrpSpPr/>
          <p:nvPr/>
        </p:nvGrpSpPr>
        <p:grpSpPr>
          <a:xfrm>
            <a:off x="2105025" y="1562100"/>
            <a:ext cx="11201400" cy="6723380"/>
            <a:chOff x="0" y="0"/>
            <a:chExt cx="14935200" cy="8964507"/>
          </a:xfrm>
        </p:grpSpPr>
        <p:sp>
          <p:nvSpPr>
            <p:cNvPr id="6" name="TextBox 6"/>
            <p:cNvSpPr txBox="1"/>
            <p:nvPr/>
          </p:nvSpPr>
          <p:spPr>
            <a:xfrm>
              <a:off x="0" y="578062"/>
              <a:ext cx="14935200" cy="8386445"/>
            </a:xfrm>
            <a:prstGeom prst="rect">
              <a:avLst/>
            </a:prstGeom>
          </p:spPr>
          <p:txBody>
            <a:bodyPr lIns="0" tIns="0" rIns="0" bIns="0" rtlCol="0" anchor="t">
              <a:spAutoFit/>
            </a:bodyPr>
            <a:lstStyle/>
            <a:p>
              <a:pPr marL="0" lvl="0" indent="0" algn="l">
                <a:lnSpc>
                  <a:spcPts val="3359"/>
                </a:lnSpc>
              </a:pPr>
              <a:r>
                <a:rPr lang="en-US" sz="2400">
                  <a:solidFill>
                    <a:srgbClr val="406882"/>
                  </a:solidFill>
                  <a:latin typeface="Codec Pro"/>
                  <a:ea typeface="Codec Pro"/>
                  <a:cs typeface="Codec Pro"/>
                  <a:sym typeface="Codec Pro"/>
                </a:rPr>
                <a:t>The analysis reveals several insights while acknowledging limitations:</a:t>
              </a:r>
            </a:p>
            <a:p>
              <a:pPr marL="518160" lvl="1" indent="-259080" algn="l">
                <a:lnSpc>
                  <a:spcPts val="3359"/>
                </a:lnSpc>
                <a:buFont typeface="Arial"/>
                <a:buChar char="•"/>
              </a:pPr>
              <a:r>
                <a:rPr lang="en-US" sz="2400" b="1">
                  <a:solidFill>
                    <a:srgbClr val="406882"/>
                  </a:solidFill>
                  <a:latin typeface="Codec Pro Bold"/>
                  <a:ea typeface="Codec Pro Bold"/>
                  <a:cs typeface="Codec Pro Bold"/>
                  <a:sym typeface="Codec Pro Bold"/>
                </a:rPr>
                <a:t>Confidence Level:</a:t>
              </a:r>
              <a:r>
                <a:rPr lang="en-US" sz="2400">
                  <a:solidFill>
                    <a:srgbClr val="406882"/>
                  </a:solidFill>
                  <a:latin typeface="Codec Pro"/>
                  <a:ea typeface="Codec Pro"/>
                  <a:cs typeface="Codec Pro"/>
                  <a:sym typeface="Codec Pro"/>
                </a:rPr>
                <a:t> Moderate, supported by two clustering methods and PCA validation.</a:t>
              </a:r>
            </a:p>
            <a:p>
              <a:pPr marL="518160" lvl="1" indent="-259080" algn="l">
                <a:lnSpc>
                  <a:spcPts val="3359"/>
                </a:lnSpc>
                <a:buFont typeface="Arial"/>
                <a:buChar char="•"/>
              </a:pPr>
              <a:r>
                <a:rPr lang="en-US" sz="2400" b="1">
                  <a:solidFill>
                    <a:srgbClr val="406882"/>
                  </a:solidFill>
                  <a:latin typeface="Codec Pro Bold"/>
                  <a:ea typeface="Codec Pro Bold"/>
                  <a:cs typeface="Codec Pro Bold"/>
                  <a:sym typeface="Codec Pro Bold"/>
                </a:rPr>
                <a:t>Limitation 1:</a:t>
              </a:r>
              <a:r>
                <a:rPr lang="en-US" sz="2400">
                  <a:solidFill>
                    <a:srgbClr val="406882"/>
                  </a:solidFill>
                  <a:latin typeface="Codec Pro"/>
                  <a:ea typeface="Codec Pro"/>
                  <a:cs typeface="Codec Pro"/>
                  <a:sym typeface="Codec Pro"/>
                </a:rPr>
                <a:t> Clustering is unsupervised; no true labels exist.</a:t>
              </a:r>
            </a:p>
            <a:p>
              <a:pPr marL="518160" lvl="1" indent="-259080" algn="l">
                <a:lnSpc>
                  <a:spcPts val="3359"/>
                </a:lnSpc>
                <a:buFont typeface="Arial"/>
                <a:buChar char="•"/>
              </a:pPr>
              <a:r>
                <a:rPr lang="en-US" sz="2400" b="1">
                  <a:solidFill>
                    <a:srgbClr val="406882"/>
                  </a:solidFill>
                  <a:latin typeface="Codec Pro Bold"/>
                  <a:ea typeface="Codec Pro Bold"/>
                  <a:cs typeface="Codec Pro Bold"/>
                  <a:sym typeface="Codec Pro Bold"/>
                </a:rPr>
                <a:t>Limitation 2:</a:t>
              </a:r>
              <a:r>
                <a:rPr lang="en-US" sz="2400">
                  <a:solidFill>
                    <a:srgbClr val="406882"/>
                  </a:solidFill>
                  <a:latin typeface="Codec Pro"/>
                  <a:ea typeface="Codec Pro"/>
                  <a:cs typeface="Codec Pro"/>
                  <a:sym typeface="Codec Pro"/>
                </a:rPr>
                <a:t> Results rely on subjective interpretation of cluster profiles.</a:t>
              </a:r>
            </a:p>
            <a:p>
              <a:pPr marL="518160" lvl="1" indent="-259080" algn="l">
                <a:lnSpc>
                  <a:spcPts val="3359"/>
                </a:lnSpc>
                <a:buFont typeface="Arial"/>
                <a:buChar char="•"/>
              </a:pPr>
              <a:r>
                <a:rPr lang="en-US" sz="2400" b="1">
                  <a:solidFill>
                    <a:srgbClr val="406882"/>
                  </a:solidFill>
                  <a:latin typeface="Codec Pro Bold"/>
                  <a:ea typeface="Codec Pro Bold"/>
                  <a:cs typeface="Codec Pro Bold"/>
                  <a:sym typeface="Codec Pro Bold"/>
                </a:rPr>
                <a:t>Limitation 3:</a:t>
              </a:r>
              <a:r>
                <a:rPr lang="en-US" sz="2400">
                  <a:solidFill>
                    <a:srgbClr val="406882"/>
                  </a:solidFill>
                  <a:latin typeface="Codec Pro"/>
                  <a:ea typeface="Codec Pro"/>
                  <a:cs typeface="Codec Pro"/>
                  <a:sym typeface="Codec Pro"/>
                </a:rPr>
                <a:t> Observational data indicates association, not causation.</a:t>
              </a:r>
            </a:p>
            <a:p>
              <a:pPr marL="518160" lvl="1" indent="-259080" algn="l">
                <a:lnSpc>
                  <a:spcPts val="3359"/>
                </a:lnSpc>
                <a:buFont typeface="Arial"/>
                <a:buChar char="•"/>
              </a:pPr>
              <a:r>
                <a:rPr lang="en-US" sz="2400" b="1">
                  <a:solidFill>
                    <a:srgbClr val="406882"/>
                  </a:solidFill>
                  <a:latin typeface="Codec Pro Bold"/>
                  <a:ea typeface="Codec Pro Bold"/>
                  <a:cs typeface="Codec Pro Bold"/>
                  <a:sym typeface="Codec Pro Bold"/>
                </a:rPr>
                <a:t>Technical Caution:</a:t>
              </a:r>
              <a:r>
                <a:rPr lang="en-US" sz="2400">
                  <a:solidFill>
                    <a:srgbClr val="406882"/>
                  </a:solidFill>
                  <a:latin typeface="Codec Pro"/>
                  <a:ea typeface="Codec Pro"/>
                  <a:cs typeface="Codec Pro"/>
                  <a:sym typeface="Codec Pro"/>
                </a:rPr>
                <a:t> Decision Tree and Naive Bayes clarify clusters but do not validate independently.</a:t>
              </a:r>
            </a:p>
            <a:p>
              <a:pPr marL="0" lvl="0" indent="0" algn="l">
                <a:lnSpc>
                  <a:spcPts val="3359"/>
                </a:lnSpc>
              </a:pPr>
              <a:r>
                <a:rPr lang="en-US" sz="2400">
                  <a:solidFill>
                    <a:srgbClr val="406882"/>
                  </a:solidFill>
                  <a:latin typeface="Codec Pro"/>
                  <a:ea typeface="Codec Pro"/>
                  <a:cs typeface="Codec Pro"/>
                  <a:sym typeface="Codec Pro"/>
                </a:rPr>
                <a:t>These limitations highlight the need for careful interpretation of the findings. While the clustering methods provide valuable insights into sleep-health patterns, the absence of established labels and the potential for subjective biases should be considered. Future research could address these limitations by incorporating supervised methods, larger datasets, and rigorous validation techniques, ultimately leading to a more comprehensive understanding of sleep health dynamics.</a:t>
              </a:r>
            </a:p>
          </p:txBody>
        </p:sp>
        <p:sp>
          <p:nvSpPr>
            <p:cNvPr id="7" name="TextBox 7"/>
            <p:cNvSpPr txBox="1"/>
            <p:nvPr/>
          </p:nvSpPr>
          <p:spPr>
            <a:xfrm>
              <a:off x="0" y="-76200"/>
              <a:ext cx="14935200" cy="638387"/>
            </a:xfrm>
            <a:prstGeom prst="rect">
              <a:avLst/>
            </a:prstGeom>
          </p:spPr>
          <p:txBody>
            <a:bodyPr lIns="0" tIns="0" rIns="0" bIns="0" rtlCol="0" anchor="t">
              <a:spAutoFit/>
            </a:bodyPr>
            <a:lstStyle/>
            <a:p>
              <a:pPr marL="0" lvl="0" indent="0" algn="l">
                <a:lnSpc>
                  <a:spcPts val="3639"/>
                </a:lnSpc>
              </a:pPr>
              <a:r>
                <a:rPr lang="en-US" sz="2799" b="1">
                  <a:solidFill>
                    <a:srgbClr val="62A1D7"/>
                  </a:solidFill>
                  <a:latin typeface="Codec Pro Ultra-Bold"/>
                  <a:ea typeface="Codec Pro Ultra-Bold"/>
                  <a:cs typeface="Codec Pro Ultra-Bold"/>
                  <a:sym typeface="Codec Pro Ultra-Bold"/>
                </a:rPr>
                <a:t>Confidence and Limitations of Findings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grpSp>
        <p:nvGrpSpPr>
          <p:cNvPr id="5" name="Group 5"/>
          <p:cNvGrpSpPr/>
          <p:nvPr/>
        </p:nvGrpSpPr>
        <p:grpSpPr>
          <a:xfrm>
            <a:off x="1800225" y="4361587"/>
            <a:ext cx="14687550" cy="1563827"/>
            <a:chOff x="0" y="0"/>
            <a:chExt cx="19583400" cy="2085103"/>
          </a:xfrm>
        </p:grpSpPr>
        <p:sp>
          <p:nvSpPr>
            <p:cNvPr id="6" name="TextBox 6"/>
            <p:cNvSpPr txBox="1"/>
            <p:nvPr/>
          </p:nvSpPr>
          <p:spPr>
            <a:xfrm>
              <a:off x="0" y="-57150"/>
              <a:ext cx="19583400" cy="1149350"/>
            </a:xfrm>
            <a:prstGeom prst="rect">
              <a:avLst/>
            </a:prstGeom>
          </p:spPr>
          <p:txBody>
            <a:bodyPr lIns="0" tIns="0" rIns="0" bIns="0" rtlCol="0" anchor="t">
              <a:spAutoFit/>
            </a:bodyPr>
            <a:lstStyle/>
            <a:p>
              <a:pPr marL="0" lvl="0" indent="0" algn="ctr">
                <a:lnSpc>
                  <a:spcPts val="6480"/>
                </a:lnSpc>
              </a:pPr>
              <a:r>
                <a:rPr lang="en-US" sz="5400" b="1" spc="-135">
                  <a:solidFill>
                    <a:srgbClr val="406882"/>
                  </a:solidFill>
                  <a:latin typeface="Gatwick Ultra-Bold"/>
                  <a:ea typeface="Gatwick Ultra-Bold"/>
                  <a:cs typeface="Gatwick Ultra-Bold"/>
                  <a:sym typeface="Gatwick Ultra-Bold"/>
                </a:rPr>
                <a:t>Handle data </a:t>
              </a:r>
              <a:r>
                <a:rPr lang="en-US" sz="5400" b="1" spc="-135">
                  <a:solidFill>
                    <a:srgbClr val="406882"/>
                  </a:solidFill>
                  <a:latin typeface="Gatwick Bold"/>
                  <a:ea typeface="Gatwick Bold"/>
                  <a:cs typeface="Gatwick Bold"/>
                  <a:sym typeface="Gatwick Bold"/>
                </a:rPr>
                <a:t>with care and respect</a:t>
              </a:r>
              <a:r>
                <a:rPr lang="en-US" sz="5400" b="1" spc="-135">
                  <a:solidFill>
                    <a:srgbClr val="406882"/>
                  </a:solidFill>
                  <a:latin typeface="Gatwick Ultra-Bold"/>
                  <a:ea typeface="Gatwick Ultra-Bold"/>
                  <a:cs typeface="Gatwick Ultra-Bold"/>
                  <a:sym typeface="Gatwick Ultra-Bold"/>
                </a:rPr>
                <a:t>.</a:t>
              </a:r>
            </a:p>
          </p:txBody>
        </p:sp>
        <p:sp>
          <p:nvSpPr>
            <p:cNvPr id="7" name="TextBox 7"/>
            <p:cNvSpPr txBox="1"/>
            <p:nvPr/>
          </p:nvSpPr>
          <p:spPr>
            <a:xfrm>
              <a:off x="406400" y="1525668"/>
              <a:ext cx="18770600" cy="559435"/>
            </a:xfrm>
            <a:prstGeom prst="rect">
              <a:avLst/>
            </a:prstGeom>
          </p:spPr>
          <p:txBody>
            <a:bodyPr lIns="0" tIns="0" rIns="0" bIns="0" rtlCol="0" anchor="t">
              <a:spAutoFit/>
            </a:bodyPr>
            <a:lstStyle/>
            <a:p>
              <a:pPr marL="0" lvl="0" indent="0" algn="ctr">
                <a:lnSpc>
                  <a:spcPts val="3120"/>
                </a:lnSpc>
                <a:spcBef>
                  <a:spcPct val="0"/>
                </a:spcBef>
              </a:pPr>
              <a:r>
                <a:rPr lang="en-US" sz="2400" b="1" u="none" strike="noStrike">
                  <a:solidFill>
                    <a:srgbClr val="406882"/>
                  </a:solidFill>
                  <a:latin typeface="Codec Pro Ultra-Bold"/>
                  <a:ea typeface="Codec Pro Ultra-Bold"/>
                  <a:cs typeface="Codec Pro Ultra-Bold"/>
                  <a:sym typeface="Codec Pro Ultra-Bold"/>
                </a:rPr>
                <a:t>Data sensitivity </a:t>
              </a:r>
              <a:r>
                <a:rPr lang="en-US" sz="2400" b="1" u="none" strike="noStrike">
                  <a:solidFill>
                    <a:srgbClr val="406882"/>
                  </a:solidFill>
                  <a:latin typeface="Codec Pro Bold"/>
                  <a:ea typeface="Codec Pro Bold"/>
                  <a:cs typeface="Codec Pro Bold"/>
                  <a:sym typeface="Codec Pro Bold"/>
                </a:rPr>
                <a:t>calls for ethical responsibility</a:t>
              </a:r>
              <a:r>
                <a:rPr lang="en-US" sz="2400" b="1" u="none" strike="noStrike">
                  <a:solidFill>
                    <a:srgbClr val="406882"/>
                  </a:solidFill>
                  <a:latin typeface="Codec Pro Ultra-Bold"/>
                  <a:ea typeface="Codec Pro Ultra-Bold"/>
                  <a:cs typeface="Codec Pro Ultra-Bold"/>
                  <a:sym typeface="Codec Pro Ultra-Bold"/>
                </a:rPr>
                <a: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5734099" cy="3028120"/>
          </a:xfrm>
        </p:grpSpPr>
        <p:sp>
          <p:nvSpPr>
            <p:cNvPr id="3" name="Freeform 3"/>
            <p:cNvSpPr/>
            <p:nvPr/>
          </p:nvSpPr>
          <p:spPr>
            <a:xfrm>
              <a:off x="12700" y="12700"/>
              <a:ext cx="5669329" cy="2959540"/>
            </a:xfrm>
            <a:custGeom>
              <a:avLst/>
              <a:gdLst/>
              <a:ahLst/>
              <a:cxnLst/>
              <a:rect l="l" t="t" r="r" b="b"/>
              <a:pathLst>
                <a:path w="5669329" h="2959540">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D3D9E2"/>
            </a:solidFill>
          </p:spPr>
          <p:txBody>
            <a:bodyPr/>
            <a:lstStyle/>
            <a:p>
              <a:endParaRPr lang="en-US"/>
            </a:p>
          </p:txBody>
        </p:sp>
        <p:sp>
          <p:nvSpPr>
            <p:cNvPr id="4" name="Freeform 4"/>
            <p:cNvSpPr/>
            <p:nvPr/>
          </p:nvSpPr>
          <p:spPr>
            <a:xfrm>
              <a:off x="0" y="0"/>
              <a:ext cx="5734099" cy="3028120"/>
            </a:xfrm>
            <a:custGeom>
              <a:avLst/>
              <a:gdLst/>
              <a:ahLst/>
              <a:cxnLst/>
              <a:rect l="l" t="t" r="r" b="b"/>
              <a:pathLst>
                <a:path w="5734099" h="3028120">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406882"/>
            </a:solidFill>
          </p:spPr>
          <p:txBody>
            <a:bodyPr/>
            <a:lstStyle/>
            <a:p>
              <a:endParaRPr lang="en-US"/>
            </a:p>
          </p:txBody>
        </p:sp>
      </p:grpSp>
      <p:grpSp>
        <p:nvGrpSpPr>
          <p:cNvPr id="5" name="Group 5"/>
          <p:cNvGrpSpPr/>
          <p:nvPr/>
        </p:nvGrpSpPr>
        <p:grpSpPr>
          <a:xfrm>
            <a:off x="7858125" y="1562100"/>
            <a:ext cx="8324850" cy="2752725"/>
            <a:chOff x="0" y="0"/>
            <a:chExt cx="11099800" cy="3670300"/>
          </a:xfrm>
        </p:grpSpPr>
        <p:sp>
          <p:nvSpPr>
            <p:cNvPr id="6" name="TextBox 6"/>
            <p:cNvSpPr txBox="1"/>
            <p:nvPr/>
          </p:nvSpPr>
          <p:spPr>
            <a:xfrm>
              <a:off x="0" y="-76200"/>
              <a:ext cx="11099800" cy="3098800"/>
            </a:xfrm>
            <a:prstGeom prst="rect">
              <a:avLst/>
            </a:prstGeom>
          </p:spPr>
          <p:txBody>
            <a:bodyPr lIns="0" tIns="0" rIns="0" bIns="0" rtlCol="0" anchor="t">
              <a:spAutoFit/>
            </a:bodyPr>
            <a:lstStyle/>
            <a:p>
              <a:pPr marL="0" lvl="0" indent="0" algn="ctr">
                <a:lnSpc>
                  <a:spcPts val="8999"/>
                </a:lnSpc>
              </a:pPr>
              <a:r>
                <a:rPr lang="en-US" sz="7499" b="1" spc="-187">
                  <a:solidFill>
                    <a:srgbClr val="62A1D7"/>
                  </a:solidFill>
                  <a:latin typeface="Gatwick Ultra-Bold"/>
                  <a:ea typeface="Gatwick Ultra-Bold"/>
                  <a:cs typeface="Gatwick Ultra-Bold"/>
                  <a:sym typeface="Gatwick Ultra-Bold"/>
                </a:rPr>
                <a:t>Conclusion &amp; Next Steps</a:t>
              </a:r>
            </a:p>
          </p:txBody>
        </p:sp>
        <p:sp>
          <p:nvSpPr>
            <p:cNvPr id="7" name="TextBox 7"/>
            <p:cNvSpPr txBox="1"/>
            <p:nvPr/>
          </p:nvSpPr>
          <p:spPr>
            <a:xfrm>
              <a:off x="0" y="3110865"/>
              <a:ext cx="11099800" cy="559435"/>
            </a:xfrm>
            <a:prstGeom prst="rect">
              <a:avLst/>
            </a:prstGeom>
          </p:spPr>
          <p:txBody>
            <a:bodyPr lIns="0" tIns="0" rIns="0" bIns="0" rtlCol="0" anchor="t">
              <a:spAutoFit/>
            </a:bodyPr>
            <a:lstStyle/>
            <a:p>
              <a:pPr marL="0" lvl="0" indent="0" algn="ctr">
                <a:lnSpc>
                  <a:spcPts val="3120"/>
                </a:lnSpc>
              </a:pPr>
              <a:r>
                <a:rPr lang="en-US" sz="2400" b="1">
                  <a:solidFill>
                    <a:srgbClr val="406882"/>
                  </a:solidFill>
                  <a:latin typeface="Codec Pro Ultra-Bold"/>
                  <a:ea typeface="Codec Pro Ultra-Bold"/>
                  <a:cs typeface="Codec Pro Ultra-Bold"/>
                  <a:sym typeface="Codec Pro Ultra-Bold"/>
                </a:rPr>
                <a:t>Insights and directions for future exploration</a:t>
              </a:r>
            </a:p>
          </p:txBody>
        </p:sp>
      </p:grpSp>
      <p:sp>
        <p:nvSpPr>
          <p:cNvPr id="17" name="Freeform 17"/>
          <p:cNvSpPr/>
          <p:nvPr/>
        </p:nvSpPr>
        <p:spPr>
          <a:xfrm rot="5400000">
            <a:off x="727580" y="2266950"/>
            <a:ext cx="7158835" cy="5753100"/>
          </a:xfrm>
          <a:custGeom>
            <a:avLst/>
            <a:gdLst/>
            <a:ahLst/>
            <a:cxnLst/>
            <a:rect l="l" t="t" r="r" b="b"/>
            <a:pathLst>
              <a:path w="7158835" h="5753100">
                <a:moveTo>
                  <a:pt x="0" y="0"/>
                </a:moveTo>
                <a:lnTo>
                  <a:pt x="7158835" y="0"/>
                </a:lnTo>
                <a:lnTo>
                  <a:pt x="7158835" y="5753100"/>
                </a:lnTo>
                <a:lnTo>
                  <a:pt x="0" y="575310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527</Words>
  <Application>Microsoft Office PowerPoint</Application>
  <PresentationFormat>Custom</PresentationFormat>
  <Paragraphs>45</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Gatwick Bold</vt:lpstr>
      <vt:lpstr>Codec Pro Bold</vt:lpstr>
      <vt:lpstr>Codec Pro</vt:lpstr>
      <vt:lpstr>Calibri</vt:lpstr>
      <vt:lpstr>Codec Pro Ultra-Bold</vt:lpstr>
      <vt:lpstr>Arial</vt:lpstr>
      <vt:lpstr>Gatwick Ultra-Bold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Sleep Health Discovery</dc:title>
  <dc:description>Presentation - Sleep Health Discovery</dc:description>
  <cp:lastModifiedBy>Kofi Ofori-Acquah</cp:lastModifiedBy>
  <cp:revision>2</cp:revision>
  <dcterms:created xsi:type="dcterms:W3CDTF">2006-08-16T00:00:00Z</dcterms:created>
  <dcterms:modified xsi:type="dcterms:W3CDTF">2026-05-04T03:04:25Z</dcterms:modified>
  <dc:identifier>DAHIq2qREMw</dc:identifier>
</cp:coreProperties>
</file>